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9" r:id="rId7"/>
    <p:sldId id="270" r:id="rId8"/>
    <p:sldId id="271" r:id="rId9"/>
    <p:sldId id="260" r:id="rId10"/>
    <p:sldId id="262" r:id="rId11"/>
    <p:sldId id="261" r:id="rId12"/>
    <p:sldId id="272" r:id="rId13"/>
    <p:sldId id="273" r:id="rId14"/>
    <p:sldId id="274" r:id="rId15"/>
    <p:sldId id="266" r:id="rId16"/>
    <p:sldId id="275" r:id="rId17"/>
    <p:sldId id="276" r:id="rId18"/>
    <p:sldId id="267" r:id="rId19"/>
    <p:sldId id="263" r:id="rId20"/>
    <p:sldId id="26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14-04-2026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normAutofit/>
          </a:bodyPr>
          <a:lstStyle/>
          <a:p>
            <a:r>
              <a:rPr lang="en-US" sz="3200" dirty="0"/>
              <a:t>Comparative Analysis of Deep Learning Models for Face Anti-Spoofing in Secure Biometric Authentication</a:t>
            </a:r>
            <a:endParaRPr lang="en-IN" sz="3200"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sz="1600" dirty="0"/>
              <a:t>Eshanya Padial(23Fe10cse00592)</a:t>
            </a:r>
          </a:p>
          <a:p>
            <a:r>
              <a:rPr lang="en-IN" sz="1600" dirty="0"/>
              <a:t>Jai Sachdeva(23Fe10cse00455)</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p>
          <a:p>
            <a:r>
              <a:rPr lang="en-IN" dirty="0"/>
              <a:t>Ms. Neha Singh</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4" name="Rectangle 1">
            <a:extLst>
              <a:ext uri="{FF2B5EF4-FFF2-40B4-BE49-F238E27FC236}">
                <a16:creationId xmlns:a16="http://schemas.microsoft.com/office/drawing/2014/main" id="{CF784D76-EC95-034E-F78D-A00F44E8F378}"/>
              </a:ext>
            </a:extLst>
          </p:cNvPr>
          <p:cNvSpPr>
            <a:spLocks noGrp="1" noChangeArrowheads="1"/>
          </p:cNvSpPr>
          <p:nvPr>
            <p:ph idx="1"/>
          </p:nvPr>
        </p:nvSpPr>
        <p:spPr bwMode="auto">
          <a:xfrm>
            <a:off x="838200" y="2268910"/>
            <a:ext cx="874825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Introduction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Literature Review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Problem Statement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Proposed Methodology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Results &amp; Comparison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Conclusion &amp; Future Scope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References </a:t>
            </a:r>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lstStyle/>
          <a:p>
            <a:r>
              <a:rPr lang="en-US" dirty="0"/>
              <a:t>Biometric authentication is widely used for secure identity verification </a:t>
            </a:r>
          </a:p>
          <a:p>
            <a:r>
              <a:rPr lang="en-US" dirty="0"/>
              <a:t>Face recognition is popular due to: </a:t>
            </a:r>
          </a:p>
          <a:p>
            <a:pPr lvl="1"/>
            <a:r>
              <a:rPr lang="en-US" dirty="0"/>
              <a:t>Non-intrusive nature </a:t>
            </a:r>
          </a:p>
          <a:p>
            <a:pPr lvl="1"/>
            <a:r>
              <a:rPr lang="en-US" dirty="0"/>
              <a:t>Easy deployment </a:t>
            </a:r>
          </a:p>
          <a:p>
            <a:pPr lvl="1"/>
            <a:r>
              <a:rPr lang="en-US" dirty="0"/>
              <a:t>Smartphone compatibility </a:t>
            </a:r>
          </a:p>
          <a:p>
            <a:r>
              <a:rPr lang="en-US" dirty="0"/>
              <a:t>Increasing use in banking, surveillance, and mobile security </a:t>
            </a:r>
          </a:p>
          <a:p>
            <a:pPr marL="0" indent="0">
              <a:buNone/>
            </a:pP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EF5D4E-A11C-5B69-56E2-BC94F0FFBAB1}"/>
              </a:ext>
            </a:extLst>
          </p:cNvPr>
          <p:cNvSpPr>
            <a:spLocks noGrp="1"/>
          </p:cNvSpPr>
          <p:nvPr>
            <p:ph type="title"/>
          </p:nvPr>
        </p:nvSpPr>
        <p:spPr/>
        <p:txBody>
          <a:bodyPr/>
          <a:lstStyle/>
          <a:p>
            <a:endParaRPr lang="en-IN" dirty="0"/>
          </a:p>
        </p:txBody>
      </p:sp>
      <p:sp>
        <p:nvSpPr>
          <p:cNvPr id="4" name="Rectangle 1">
            <a:extLst>
              <a:ext uri="{FF2B5EF4-FFF2-40B4-BE49-F238E27FC236}">
                <a16:creationId xmlns:a16="http://schemas.microsoft.com/office/drawing/2014/main" id="{EFBAA47B-5CCB-F598-0DE1-583D7A8D297A}"/>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Face recognition systems are vulnerable to: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Printed image attacks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Replay/video attacks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Deepfake attacks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Deepfake generation using GANs makes spoofing harder to detect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Need for </a:t>
            </a:r>
            <a:r>
              <a:rPr kumimoji="0" lang="en-US" altLang="en-US" sz="2400" b="1" i="0" u="none" strike="noStrike" cap="none" normalizeH="0" baseline="0" dirty="0">
                <a:ln>
                  <a:noFill/>
                </a:ln>
                <a:solidFill>
                  <a:schemeClr val="tx1"/>
                </a:solidFill>
                <a:effectLst/>
                <a:latin typeface="Arial" panose="020B0604020202020204" pitchFamily="34" charset="0"/>
              </a:rPr>
              <a:t>robust face anti-spoofing systems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88521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lstStyle/>
          <a:p>
            <a:pPr marL="0" indent="0">
              <a:buNone/>
            </a:pPr>
            <a:r>
              <a:rPr lang="en-IN" dirty="0"/>
              <a:t>Traditional Approaches :</a:t>
            </a:r>
          </a:p>
          <a:p>
            <a:r>
              <a:rPr lang="en-IN" dirty="0"/>
              <a:t>Local Binary Patterns </a:t>
            </a:r>
          </a:p>
          <a:p>
            <a:r>
              <a:rPr lang="en-IN" dirty="0"/>
              <a:t>Histogram of Oriented Patterns </a:t>
            </a:r>
          </a:p>
          <a:p>
            <a:pPr marL="0" indent="0">
              <a:buNone/>
            </a:pPr>
            <a:endParaRPr lang="en-IN" dirty="0"/>
          </a:p>
          <a:p>
            <a:pPr marL="0" indent="0">
              <a:buNone/>
            </a:pPr>
            <a:r>
              <a:rPr lang="en-IN" dirty="0"/>
              <a:t>Advantage: Low Computational Cost </a:t>
            </a:r>
          </a:p>
          <a:p>
            <a:pPr marL="0" indent="0">
              <a:buNone/>
            </a:pPr>
            <a:r>
              <a:rPr lang="en-IN" dirty="0"/>
              <a:t>Disadvantages:</a:t>
            </a:r>
            <a:r>
              <a:rPr lang="en-US" dirty="0"/>
              <a:t>Sensitive to lighting and pose and </a:t>
            </a:r>
            <a:r>
              <a:rPr lang="en-IN" dirty="0"/>
              <a:t>Poor                 generalization</a:t>
            </a: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F0DFC-AC74-0677-9375-BA49E829A3E9}"/>
              </a:ext>
            </a:extLst>
          </p:cNvPr>
          <p:cNvSpPr>
            <a:spLocks noGrp="1"/>
          </p:cNvSpPr>
          <p:nvPr>
            <p:ph type="title"/>
          </p:nvPr>
        </p:nvSpPr>
        <p:spPr/>
        <p:txBody>
          <a:bodyPr/>
          <a:lstStyle/>
          <a:p>
            <a:r>
              <a:rPr lang="en-IN" dirty="0"/>
              <a:t>Literature Review </a:t>
            </a:r>
          </a:p>
        </p:txBody>
      </p:sp>
      <p:sp>
        <p:nvSpPr>
          <p:cNvPr id="3" name="Content Placeholder 2">
            <a:extLst>
              <a:ext uri="{FF2B5EF4-FFF2-40B4-BE49-F238E27FC236}">
                <a16:creationId xmlns:a16="http://schemas.microsoft.com/office/drawing/2014/main" id="{C1B5C4B5-2D7A-A594-49E3-2FD87CFDE953}"/>
              </a:ext>
            </a:extLst>
          </p:cNvPr>
          <p:cNvSpPr>
            <a:spLocks noGrp="1"/>
          </p:cNvSpPr>
          <p:nvPr>
            <p:ph idx="1"/>
          </p:nvPr>
        </p:nvSpPr>
        <p:spPr/>
        <p:txBody>
          <a:bodyPr/>
          <a:lstStyle/>
          <a:p>
            <a:pPr marL="0" indent="0">
              <a:buNone/>
            </a:pPr>
            <a:r>
              <a:rPr lang="en-IN" dirty="0"/>
              <a:t>Deep Learning Approaches : CNN Based Model like VGG etc</a:t>
            </a:r>
          </a:p>
          <a:p>
            <a:pPr marL="0" indent="0">
              <a:buNone/>
            </a:pPr>
            <a:endParaRPr lang="en-IN" dirty="0"/>
          </a:p>
          <a:p>
            <a:pPr marL="0" indent="0">
              <a:buNone/>
            </a:pPr>
            <a:r>
              <a:rPr lang="en-IN" dirty="0"/>
              <a:t>Advantages : Automatic feature extraction and higher accuracy.</a:t>
            </a:r>
          </a:p>
          <a:p>
            <a:pPr marL="0" indent="0">
              <a:buNone/>
            </a:pPr>
            <a:r>
              <a:rPr lang="en-IN" dirty="0"/>
              <a:t>Disadvantages : Requires large datasets and very high computational cost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246710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5A5D-A59A-B346-3998-95EAAD910B6C}"/>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5AEB3B78-7129-47E5-D0FC-DA686DE55DFC}"/>
              </a:ext>
            </a:extLst>
          </p:cNvPr>
          <p:cNvSpPr>
            <a:spLocks noGrp="1"/>
          </p:cNvSpPr>
          <p:nvPr>
            <p:ph idx="1"/>
          </p:nvPr>
        </p:nvSpPr>
        <p:spPr/>
        <p:txBody>
          <a:bodyPr/>
          <a:lstStyle/>
          <a:p>
            <a:r>
              <a:rPr lang="en-IN" dirty="0"/>
              <a:t>Advanced Architecture Approaches : ResNet50 , MobileNetV2 and EfficientNetB0</a:t>
            </a:r>
          </a:p>
          <a:p>
            <a:r>
              <a:rPr lang="en-IN" dirty="0"/>
              <a:t>Emerging Techniques:Transformers(</a:t>
            </a:r>
            <a:r>
              <a:rPr lang="en-IN" dirty="0" err="1"/>
              <a:t>ViT</a:t>
            </a:r>
            <a:r>
              <a:rPr lang="en-IN" dirty="0"/>
              <a:t>) and Multimodal Systems</a:t>
            </a:r>
          </a:p>
          <a:p>
            <a:endParaRPr lang="en-IN" dirty="0"/>
          </a:p>
          <a:p>
            <a:r>
              <a:rPr lang="en-IN" dirty="0"/>
              <a:t>Challenges : Real time performance and unknown attack detection </a:t>
            </a:r>
          </a:p>
        </p:txBody>
      </p:sp>
    </p:spTree>
    <p:extLst>
      <p:ext uri="{BB962C8B-B14F-4D97-AF65-F5344CB8AC3E}">
        <p14:creationId xmlns:p14="http://schemas.microsoft.com/office/powerpoint/2010/main" val="2513760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82EBB25-97EE-38C5-22D5-858A192525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60593" y="643467"/>
            <a:ext cx="9470813" cy="4634386"/>
          </a:xfrm>
          <a:prstGeom prst="rect">
            <a:avLst/>
          </a:prstGeom>
        </p:spPr>
      </p:pic>
      <p:sp>
        <p:nvSpPr>
          <p:cNvPr id="4" name="TextBox 3">
            <a:extLst>
              <a:ext uri="{FF2B5EF4-FFF2-40B4-BE49-F238E27FC236}">
                <a16:creationId xmlns:a16="http://schemas.microsoft.com/office/drawing/2014/main" id="{DF7E630A-D504-91CC-25F7-3C4884059C02}"/>
              </a:ext>
            </a:extLst>
          </p:cNvPr>
          <p:cNvSpPr txBox="1"/>
          <p:nvPr/>
        </p:nvSpPr>
        <p:spPr>
          <a:xfrm>
            <a:off x="2807368" y="5951621"/>
            <a:ext cx="5823284" cy="369332"/>
          </a:xfrm>
          <a:prstGeom prst="rect">
            <a:avLst/>
          </a:prstGeom>
          <a:noFill/>
        </p:spPr>
        <p:txBody>
          <a:bodyPr wrap="square" rtlCol="0">
            <a:spAutoFit/>
          </a:bodyPr>
          <a:lstStyle/>
          <a:p>
            <a:pPr algn="ctr"/>
            <a:r>
              <a:rPr lang="en-IN" dirty="0"/>
              <a:t>Evolution of Anti Spoofing Techniques</a:t>
            </a:r>
          </a:p>
        </p:txBody>
      </p:sp>
    </p:spTree>
    <p:extLst>
      <p:ext uri="{BB962C8B-B14F-4D97-AF65-F5344CB8AC3E}">
        <p14:creationId xmlns:p14="http://schemas.microsoft.com/office/powerpoint/2010/main" val="3286856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838200" y="1857709"/>
            <a:ext cx="10515600" cy="4351338"/>
          </a:xfrm>
        </p:spPr>
        <p:txBody>
          <a:bodyPr/>
          <a:lstStyle/>
          <a:p>
            <a:pPr marL="0" indent="0" algn="just">
              <a:buNone/>
            </a:pPr>
            <a:r>
              <a:rPr lang="en-US" dirty="0"/>
              <a:t>To research and compare three deep learning models (MobileNetV2, ResNet50, EfficientNetB0) for face anti-spoofing and develop a full functional authentication system based on the best-performing model.</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pPr marL="514350" indent="-514350">
              <a:buAutoNum type="arabicPeriod"/>
            </a:pPr>
            <a:r>
              <a:rPr lang="en-IN" dirty="0"/>
              <a:t>Compare performance of three CNN Models </a:t>
            </a:r>
          </a:p>
          <a:p>
            <a:pPr marL="514350" indent="-514350">
              <a:buAutoNum type="arabicPeriod"/>
            </a:pPr>
            <a:r>
              <a:rPr lang="en-IN" dirty="0"/>
              <a:t>Detect real vs spoofed faces accurately</a:t>
            </a:r>
          </a:p>
          <a:p>
            <a:pPr marL="514350" indent="-514350">
              <a:buAutoNum type="arabicPeriod"/>
            </a:pPr>
            <a:r>
              <a:rPr lang="en-IN" dirty="0"/>
              <a:t>Identify best model based on metrics</a:t>
            </a:r>
          </a:p>
          <a:p>
            <a:pPr marL="514350" indent="-514350">
              <a:buAutoNum type="arabicPeriod"/>
            </a:pPr>
            <a:r>
              <a:rPr lang="en-IN" dirty="0"/>
              <a:t>Develop a real time face authentication system</a:t>
            </a:r>
          </a:p>
        </p:txBody>
      </p:sp>
    </p:spTree>
    <p:extLst>
      <p:ext uri="{BB962C8B-B14F-4D97-AF65-F5344CB8AC3E}">
        <p14:creationId xmlns:p14="http://schemas.microsoft.com/office/powerpoint/2010/main" val="354709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pPr marL="0" indent="0">
              <a:buNone/>
            </a:pPr>
            <a:r>
              <a:rPr lang="en-IN" sz="3200" b="1" dirty="0"/>
              <a:t>System Workflow</a:t>
            </a:r>
          </a:p>
          <a:p>
            <a:pPr marL="0" indent="0">
              <a:buNone/>
            </a:pPr>
            <a:r>
              <a:rPr lang="en-IN" dirty="0"/>
              <a:t>Input: Facial images dataset </a:t>
            </a:r>
          </a:p>
          <a:p>
            <a:pPr marL="0" indent="0">
              <a:buNone/>
            </a:pPr>
            <a:r>
              <a:rPr lang="en-IN" dirty="0"/>
              <a:t>Preprocessing: Resize, Normalize</a:t>
            </a:r>
          </a:p>
          <a:p>
            <a:pPr marL="0" indent="0">
              <a:buNone/>
            </a:pPr>
            <a:r>
              <a:rPr lang="en-IN" dirty="0"/>
              <a:t>Feature Extraction using CNN</a:t>
            </a:r>
          </a:p>
          <a:p>
            <a:pPr marL="0" indent="0">
              <a:buNone/>
            </a:pPr>
            <a:r>
              <a:rPr lang="en-IN" dirty="0"/>
              <a:t>Binary Classification (Real/Fake)</a:t>
            </a:r>
          </a:p>
          <a:p>
            <a:pPr marL="0" indent="0">
              <a:buNone/>
            </a:pPr>
            <a:r>
              <a:rPr lang="en-IN" dirty="0"/>
              <a:t>Performance Evaluation</a:t>
            </a:r>
          </a:p>
        </p:txBody>
      </p:sp>
    </p:spTree>
    <p:extLst>
      <p:ext uri="{BB962C8B-B14F-4D97-AF65-F5344CB8AC3E}">
        <p14:creationId xmlns:p14="http://schemas.microsoft.com/office/powerpoint/2010/main" val="1077724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C9A1-6D63-4448-34AC-72F83338D7CB}"/>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B0B4E4AB-45A7-BBB7-E5FC-9D992E283CBF}"/>
              </a:ext>
            </a:extLst>
          </p:cNvPr>
          <p:cNvSpPr>
            <a:spLocks noGrp="1"/>
          </p:cNvSpPr>
          <p:nvPr>
            <p:ph sz="half" idx="1"/>
          </p:nvPr>
        </p:nvSpPr>
        <p:spPr/>
        <p:txBody>
          <a:bodyPr>
            <a:normAutofit fontScale="92500" lnSpcReduction="20000"/>
          </a:bodyPr>
          <a:lstStyle/>
          <a:p>
            <a:r>
              <a:rPr lang="en-IN" b="1" dirty="0"/>
              <a:t>Data Handling</a:t>
            </a:r>
          </a:p>
          <a:p>
            <a:r>
              <a:rPr lang="en-IN" dirty="0"/>
              <a:t>Dataset split: </a:t>
            </a:r>
          </a:p>
          <a:p>
            <a:pPr lvl="1"/>
            <a:r>
              <a:rPr lang="en-IN" dirty="0"/>
              <a:t>Training </a:t>
            </a:r>
          </a:p>
          <a:p>
            <a:pPr lvl="1"/>
            <a:r>
              <a:rPr lang="en-IN" dirty="0"/>
              <a:t>Validation </a:t>
            </a:r>
          </a:p>
          <a:p>
            <a:pPr lvl="1"/>
            <a:r>
              <a:rPr lang="en-IN" dirty="0"/>
              <a:t>Testing </a:t>
            </a:r>
          </a:p>
          <a:p>
            <a:r>
              <a:rPr lang="en-IN" dirty="0"/>
              <a:t>Label encoding: </a:t>
            </a:r>
          </a:p>
          <a:p>
            <a:pPr lvl="1"/>
            <a:r>
              <a:rPr lang="en-IN" dirty="0"/>
              <a:t>Real = 1 </a:t>
            </a:r>
          </a:p>
          <a:p>
            <a:pPr lvl="1"/>
            <a:r>
              <a:rPr lang="en-IN" dirty="0"/>
              <a:t>Fake = 0 </a:t>
            </a:r>
          </a:p>
          <a:p>
            <a:r>
              <a:rPr lang="en-IN" dirty="0"/>
              <a:t>Data augmentation: </a:t>
            </a:r>
          </a:p>
          <a:p>
            <a:pPr lvl="1"/>
            <a:r>
              <a:rPr lang="en-IN" dirty="0"/>
              <a:t>Flipping </a:t>
            </a:r>
          </a:p>
          <a:p>
            <a:pPr lvl="1"/>
            <a:r>
              <a:rPr lang="en-IN" dirty="0"/>
              <a:t>Brightness/contrast adjustment</a:t>
            </a:r>
          </a:p>
          <a:p>
            <a:endParaRPr lang="en-IN" dirty="0"/>
          </a:p>
        </p:txBody>
      </p:sp>
      <p:sp>
        <p:nvSpPr>
          <p:cNvPr id="4" name="Content Placeholder 3">
            <a:extLst>
              <a:ext uri="{FF2B5EF4-FFF2-40B4-BE49-F238E27FC236}">
                <a16:creationId xmlns:a16="http://schemas.microsoft.com/office/drawing/2014/main" id="{77A61D7C-DD7E-14F6-F8B9-DBB1BEA54BB6}"/>
              </a:ext>
            </a:extLst>
          </p:cNvPr>
          <p:cNvSpPr>
            <a:spLocks noGrp="1"/>
          </p:cNvSpPr>
          <p:nvPr>
            <p:ph sz="half" idx="2"/>
          </p:nvPr>
        </p:nvSpPr>
        <p:spPr/>
        <p:txBody>
          <a:bodyPr>
            <a:normAutofit fontScale="92500" lnSpcReduction="20000"/>
          </a:bodyPr>
          <a:lstStyle/>
          <a:p>
            <a:r>
              <a:rPr lang="en-IN" b="1" dirty="0"/>
              <a:t>Model Architecture</a:t>
            </a:r>
          </a:p>
          <a:p>
            <a:r>
              <a:rPr lang="en-IN" dirty="0"/>
              <a:t>Models used: </a:t>
            </a:r>
          </a:p>
          <a:p>
            <a:pPr lvl="1"/>
            <a:r>
              <a:rPr lang="en-IN" dirty="0"/>
              <a:t>MobileNetV2 </a:t>
            </a:r>
          </a:p>
          <a:p>
            <a:pPr lvl="1"/>
            <a:r>
              <a:rPr lang="en-IN" dirty="0"/>
              <a:t>ResNet50 </a:t>
            </a:r>
          </a:p>
          <a:p>
            <a:pPr lvl="1"/>
            <a:r>
              <a:rPr lang="en-IN" dirty="0"/>
              <a:t>EfficientNetB0 </a:t>
            </a:r>
          </a:p>
          <a:p>
            <a:r>
              <a:rPr lang="en-IN" dirty="0"/>
              <a:t>Transfer learning: </a:t>
            </a:r>
          </a:p>
          <a:p>
            <a:pPr lvl="1"/>
            <a:r>
              <a:rPr lang="en-IN" dirty="0"/>
              <a:t>Pretrained on ImageNet </a:t>
            </a:r>
          </a:p>
          <a:p>
            <a:pPr lvl="1"/>
            <a:r>
              <a:rPr lang="en-IN" dirty="0"/>
              <a:t>Freeze base layers </a:t>
            </a:r>
          </a:p>
          <a:p>
            <a:r>
              <a:rPr lang="en-IN" dirty="0"/>
              <a:t>Classification head: </a:t>
            </a:r>
          </a:p>
          <a:p>
            <a:pPr lvl="1"/>
            <a:r>
              <a:rPr lang="en-IN" dirty="0"/>
              <a:t>Dense layer (256) </a:t>
            </a:r>
          </a:p>
          <a:p>
            <a:pPr lvl="1"/>
            <a:r>
              <a:rPr lang="en-IN" dirty="0"/>
              <a:t>Dropout (0.4) </a:t>
            </a:r>
          </a:p>
          <a:p>
            <a:pPr lvl="1"/>
            <a:r>
              <a:rPr lang="en-IN" dirty="0"/>
              <a:t>Sigmoid output</a:t>
            </a:r>
          </a:p>
          <a:p>
            <a:endParaRPr lang="en-IN" dirty="0"/>
          </a:p>
        </p:txBody>
      </p:sp>
    </p:spTree>
    <p:extLst>
      <p:ext uri="{BB962C8B-B14F-4D97-AF65-F5344CB8AC3E}">
        <p14:creationId xmlns:p14="http://schemas.microsoft.com/office/powerpoint/2010/main" val="4290700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A036B-1460-E510-B617-24153D50424A}"/>
              </a:ext>
            </a:extLst>
          </p:cNvPr>
          <p:cNvSpPr>
            <a:spLocks noGrp="1"/>
          </p:cNvSpPr>
          <p:nvPr>
            <p:ph type="title"/>
          </p:nvPr>
        </p:nvSpPr>
        <p:spPr/>
        <p:txBody>
          <a:bodyPr/>
          <a:lstStyle/>
          <a:p>
            <a:r>
              <a:rPr lang="en-IN"/>
              <a:t>Methodology</a:t>
            </a:r>
            <a:endParaRPr lang="en-IN" dirty="0"/>
          </a:p>
        </p:txBody>
      </p:sp>
      <p:sp>
        <p:nvSpPr>
          <p:cNvPr id="3" name="Content Placeholder 2">
            <a:extLst>
              <a:ext uri="{FF2B5EF4-FFF2-40B4-BE49-F238E27FC236}">
                <a16:creationId xmlns:a16="http://schemas.microsoft.com/office/drawing/2014/main" id="{BFED540E-2D72-4DFD-BF37-1DD6028CDF10}"/>
              </a:ext>
            </a:extLst>
          </p:cNvPr>
          <p:cNvSpPr>
            <a:spLocks noGrp="1"/>
          </p:cNvSpPr>
          <p:nvPr>
            <p:ph sz="half" idx="1"/>
          </p:nvPr>
        </p:nvSpPr>
        <p:spPr/>
        <p:txBody>
          <a:bodyPr>
            <a:normAutofit fontScale="70000" lnSpcReduction="20000"/>
          </a:bodyPr>
          <a:lstStyle/>
          <a:p>
            <a:r>
              <a:rPr lang="en-IN" b="1" dirty="0"/>
              <a:t>Training &amp; Evaluation</a:t>
            </a:r>
          </a:p>
          <a:p>
            <a:r>
              <a:rPr lang="en-IN" dirty="0"/>
              <a:t>Optimizer: Adam </a:t>
            </a:r>
          </a:p>
          <a:p>
            <a:r>
              <a:rPr lang="en-IN" dirty="0"/>
              <a:t>Learning Rate: 0.001 </a:t>
            </a:r>
          </a:p>
          <a:p>
            <a:r>
              <a:rPr lang="en-IN" dirty="0"/>
              <a:t>Loss: Binary Cross-Entropy </a:t>
            </a:r>
          </a:p>
          <a:p>
            <a:r>
              <a:rPr lang="en-IN" dirty="0"/>
              <a:t>Epochs: 3 </a:t>
            </a:r>
          </a:p>
          <a:p>
            <a:r>
              <a:rPr lang="en-IN" dirty="0"/>
              <a:t>Metrics: </a:t>
            </a:r>
          </a:p>
          <a:p>
            <a:pPr lvl="1"/>
            <a:r>
              <a:rPr lang="en-IN" dirty="0"/>
              <a:t>Accuracy </a:t>
            </a:r>
          </a:p>
          <a:p>
            <a:pPr lvl="1"/>
            <a:r>
              <a:rPr lang="en-IN" dirty="0"/>
              <a:t>AUC </a:t>
            </a:r>
          </a:p>
          <a:p>
            <a:pPr lvl="1"/>
            <a:r>
              <a:rPr lang="en-IN" dirty="0"/>
              <a:t>Precision </a:t>
            </a:r>
          </a:p>
          <a:p>
            <a:pPr lvl="1"/>
            <a:r>
              <a:rPr lang="en-IN" dirty="0"/>
              <a:t>Recall </a:t>
            </a:r>
          </a:p>
          <a:p>
            <a:pPr lvl="1"/>
            <a:r>
              <a:rPr lang="en-IN" dirty="0"/>
              <a:t>F1 Score </a:t>
            </a:r>
          </a:p>
          <a:p>
            <a:r>
              <a:rPr lang="en-IN" dirty="0"/>
              <a:t>Optimization: </a:t>
            </a:r>
          </a:p>
          <a:p>
            <a:pPr lvl="1"/>
            <a:r>
              <a:rPr lang="en-IN" dirty="0" err="1"/>
              <a:t>EarlyStopping</a:t>
            </a:r>
            <a:r>
              <a:rPr lang="en-IN" dirty="0"/>
              <a:t> </a:t>
            </a:r>
          </a:p>
          <a:p>
            <a:pPr lvl="1"/>
            <a:r>
              <a:rPr lang="en-IN" dirty="0" err="1"/>
              <a:t>ModelCheckpoint</a:t>
            </a:r>
            <a:endParaRPr lang="en-IN" dirty="0"/>
          </a:p>
          <a:p>
            <a:endParaRPr lang="en-IN" dirty="0"/>
          </a:p>
        </p:txBody>
      </p:sp>
      <p:pic>
        <p:nvPicPr>
          <p:cNvPr id="6" name="Content Placeholder 5">
            <a:extLst>
              <a:ext uri="{FF2B5EF4-FFF2-40B4-BE49-F238E27FC236}">
                <a16:creationId xmlns:a16="http://schemas.microsoft.com/office/drawing/2014/main" id="{5FCE036C-4551-C013-9346-DF8988C11C7F}"/>
              </a:ext>
            </a:extLst>
          </p:cNvPr>
          <p:cNvPicPr>
            <a:picLocks noGrp="1" noChangeAspect="1"/>
          </p:cNvPicPr>
          <p:nvPr>
            <p:ph sz="half" idx="2"/>
          </p:nvPr>
        </p:nvPicPr>
        <p:blipFill>
          <a:blip>
            <a:extLst>
              <a:ext uri="{96DAC541-7B7A-43D3-8B79-37D633B846F1}">
                <asvg:svgBlip xmlns:asvg="http://schemas.microsoft.com/office/drawing/2016/SVG/main" r:embed="rId2"/>
              </a:ext>
            </a:extLst>
          </a:blip>
          <a:stretch>
            <a:fillRect/>
          </a:stretch>
        </p:blipFill>
        <p:spPr>
          <a:xfrm>
            <a:off x="6172200" y="2020094"/>
            <a:ext cx="5181600" cy="3962400"/>
          </a:xfrm>
          <a:prstGeom prst="rect">
            <a:avLst/>
          </a:prstGeom>
        </p:spPr>
      </p:pic>
    </p:spTree>
    <p:extLst>
      <p:ext uri="{BB962C8B-B14F-4D97-AF65-F5344CB8AC3E}">
        <p14:creationId xmlns:p14="http://schemas.microsoft.com/office/powerpoint/2010/main" val="1065577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F33287-4988-E3A1-293E-F73A5984EFB3}"/>
              </a:ext>
            </a:extLst>
          </p:cNvPr>
          <p:cNvSpPr txBox="1"/>
          <p:nvPr/>
        </p:nvSpPr>
        <p:spPr>
          <a:xfrm>
            <a:off x="838199" y="2686323"/>
            <a:ext cx="4783697" cy="343358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Data Flow Diagram </a:t>
            </a:r>
          </a:p>
        </p:txBody>
      </p:sp>
      <p:pic>
        <p:nvPicPr>
          <p:cNvPr id="6" name="Graphic 5">
            <a:extLst>
              <a:ext uri="{FF2B5EF4-FFF2-40B4-BE49-F238E27FC236}">
                <a16:creationId xmlns:a16="http://schemas.microsoft.com/office/drawing/2014/main" id="{FA8C5B29-6E05-D62E-1B2E-B88094330B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06398" y="537882"/>
            <a:ext cx="5129426" cy="5582023"/>
          </a:xfrm>
          <a:prstGeom prst="rect">
            <a:avLst/>
          </a:prstGeom>
        </p:spPr>
      </p:pic>
    </p:spTree>
    <p:extLst>
      <p:ext uri="{BB962C8B-B14F-4D97-AF65-F5344CB8AC3E}">
        <p14:creationId xmlns:p14="http://schemas.microsoft.com/office/powerpoint/2010/main" val="2774988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1008184" y="174032"/>
            <a:ext cx="10175631" cy="1111843"/>
          </a:xfrm>
        </p:spPr>
        <p:txBody>
          <a:bodyPr anchor="ctr">
            <a:normAutofit/>
          </a:bodyPr>
          <a:lstStyle/>
          <a:p>
            <a:pPr algn="ctr"/>
            <a:r>
              <a:rPr lang="en-IN" sz="4000"/>
              <a:t>Result </a:t>
            </a:r>
          </a:p>
        </p:txBody>
      </p:sp>
      <p:sp>
        <p:nvSpPr>
          <p:cNvPr id="9" name="Content Placeholder 8">
            <a:extLst>
              <a:ext uri="{FF2B5EF4-FFF2-40B4-BE49-F238E27FC236}">
                <a16:creationId xmlns:a16="http://schemas.microsoft.com/office/drawing/2014/main" id="{3A473A24-645C-B7F1-3EC2-E3125480B11C}"/>
              </a:ext>
            </a:extLst>
          </p:cNvPr>
          <p:cNvSpPr>
            <a:spLocks noGrp="1"/>
          </p:cNvSpPr>
          <p:nvPr>
            <p:ph idx="1"/>
          </p:nvPr>
        </p:nvSpPr>
        <p:spPr>
          <a:xfrm>
            <a:off x="1008184" y="1459907"/>
            <a:ext cx="10175630" cy="767904"/>
          </a:xfrm>
        </p:spPr>
        <p:txBody>
          <a:bodyPr anchor="ctr">
            <a:normAutofit fontScale="70000" lnSpcReduction="20000"/>
          </a:bodyPr>
          <a:lstStyle/>
          <a:p>
            <a:pPr algn="ctr"/>
            <a:r>
              <a:rPr lang="en-US" sz="2000" dirty="0"/>
              <a:t>The bar chart provides a visual comparison of the model performance in terms of accuracy, AUC, precision, recall and F1-score. MobileNetV2 scores the best in all measures, which means that it performs better and equally. ResNet50 has average results in terms of recall and less precision. The results of EfficientNetB0 are very poor which proves that it is not learning effectively in this case</a:t>
            </a:r>
          </a:p>
        </p:txBody>
      </p:sp>
      <p:pic>
        <p:nvPicPr>
          <p:cNvPr id="5" name="Content Placeholder 4">
            <a:extLst>
              <a:ext uri="{FF2B5EF4-FFF2-40B4-BE49-F238E27FC236}">
                <a16:creationId xmlns:a16="http://schemas.microsoft.com/office/drawing/2014/main" id="{B64CCC8C-BC18-3F22-3265-2D4660320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823" y="2405149"/>
            <a:ext cx="8862256" cy="3899393"/>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85BB2D-DC42-FA04-3C4D-7264E5634DD8}"/>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2A9AB-10D0-3398-55E7-95FFF0996FC6}"/>
              </a:ext>
            </a:extLst>
          </p:cNvPr>
          <p:cNvSpPr>
            <a:spLocks noGrp="1"/>
          </p:cNvSpPr>
          <p:nvPr>
            <p:ph type="title"/>
          </p:nvPr>
        </p:nvSpPr>
        <p:spPr>
          <a:xfrm>
            <a:off x="1008184" y="174032"/>
            <a:ext cx="10175631" cy="1111843"/>
          </a:xfrm>
        </p:spPr>
        <p:txBody>
          <a:bodyPr anchor="ctr">
            <a:normAutofit/>
          </a:bodyPr>
          <a:lstStyle/>
          <a:p>
            <a:pPr algn="ctr"/>
            <a:r>
              <a:rPr lang="en-IN" sz="4000"/>
              <a:t>Result </a:t>
            </a:r>
          </a:p>
        </p:txBody>
      </p:sp>
      <p:sp>
        <p:nvSpPr>
          <p:cNvPr id="9" name="Content Placeholder 8">
            <a:extLst>
              <a:ext uri="{FF2B5EF4-FFF2-40B4-BE49-F238E27FC236}">
                <a16:creationId xmlns:a16="http://schemas.microsoft.com/office/drawing/2014/main" id="{2B028624-9B87-E3EE-7F85-AD044E38AEDC}"/>
              </a:ext>
            </a:extLst>
          </p:cNvPr>
          <p:cNvSpPr>
            <a:spLocks noGrp="1"/>
          </p:cNvSpPr>
          <p:nvPr>
            <p:ph idx="1"/>
          </p:nvPr>
        </p:nvSpPr>
        <p:spPr>
          <a:xfrm>
            <a:off x="1008184" y="1459907"/>
            <a:ext cx="10175630" cy="767904"/>
          </a:xfrm>
        </p:spPr>
        <p:txBody>
          <a:bodyPr anchor="ctr">
            <a:normAutofit/>
          </a:bodyPr>
          <a:lstStyle/>
          <a:p>
            <a:pPr algn="ctr"/>
            <a:r>
              <a:rPr lang="en-US" sz="1100"/>
              <a:t>The plot on the validation accuracy shows learning trends of the model with epochs. MobileNetV2 is steadily improving meaning that it has converged and learned successfully. ResNet50 shows slow progressive change with a few variations, which is indicative of a mediocre learning ability. Conversely, EfficientNetB0 is almost stable at 50% which validates its inability to learn meaningful patterns and indicates the presence of obvious underfitting behaviour</a:t>
            </a:r>
          </a:p>
        </p:txBody>
      </p:sp>
      <p:pic>
        <p:nvPicPr>
          <p:cNvPr id="4" name="Picture 3">
            <a:extLst>
              <a:ext uri="{FF2B5EF4-FFF2-40B4-BE49-F238E27FC236}">
                <a16:creationId xmlns:a16="http://schemas.microsoft.com/office/drawing/2014/main" id="{EBD3D2CC-1297-D846-EEDB-FC45A253B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7904" y="2405149"/>
            <a:ext cx="8570094" cy="3899393"/>
          </a:xfrm>
          <a:prstGeom prst="rect">
            <a:avLst/>
          </a:prstGeom>
        </p:spPr>
      </p:pic>
    </p:spTree>
    <p:extLst>
      <p:ext uri="{BB962C8B-B14F-4D97-AF65-F5344CB8AC3E}">
        <p14:creationId xmlns:p14="http://schemas.microsoft.com/office/powerpoint/2010/main" val="1878818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0C3305-78E2-A409-564B-AC5E7EB15CF7}"/>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5DA03-0D55-4F2A-DC6F-185FD953C654}"/>
              </a:ext>
            </a:extLst>
          </p:cNvPr>
          <p:cNvSpPr>
            <a:spLocks noGrp="1"/>
          </p:cNvSpPr>
          <p:nvPr>
            <p:ph type="title"/>
          </p:nvPr>
        </p:nvSpPr>
        <p:spPr>
          <a:xfrm>
            <a:off x="1008184" y="174032"/>
            <a:ext cx="10175631" cy="1111843"/>
          </a:xfrm>
        </p:spPr>
        <p:txBody>
          <a:bodyPr anchor="ctr">
            <a:normAutofit/>
          </a:bodyPr>
          <a:lstStyle/>
          <a:p>
            <a:pPr algn="ctr"/>
            <a:r>
              <a:rPr lang="en-IN" sz="4000"/>
              <a:t>Result </a:t>
            </a:r>
          </a:p>
        </p:txBody>
      </p:sp>
      <p:sp>
        <p:nvSpPr>
          <p:cNvPr id="9" name="Content Placeholder 8">
            <a:extLst>
              <a:ext uri="{FF2B5EF4-FFF2-40B4-BE49-F238E27FC236}">
                <a16:creationId xmlns:a16="http://schemas.microsoft.com/office/drawing/2014/main" id="{F4939AD4-3F30-85AA-74FB-AE6002703FB4}"/>
              </a:ext>
            </a:extLst>
          </p:cNvPr>
          <p:cNvSpPr>
            <a:spLocks noGrp="1"/>
          </p:cNvSpPr>
          <p:nvPr>
            <p:ph idx="1"/>
          </p:nvPr>
        </p:nvSpPr>
        <p:spPr>
          <a:xfrm>
            <a:off x="1008184" y="1459907"/>
            <a:ext cx="10175630" cy="767904"/>
          </a:xfrm>
        </p:spPr>
        <p:txBody>
          <a:bodyPr anchor="ctr">
            <a:normAutofit/>
          </a:bodyPr>
          <a:lstStyle/>
          <a:p>
            <a:pPr algn="ctr"/>
            <a:r>
              <a:rPr lang="en-US" sz="1100" dirty="0"/>
              <a:t>The final comparison shows that MobileNetV2 outperforms all models, achieving the highest accuracy (82.39%) and AUC (90.98%) with efficient training time (8.9 min). ResNet50 provides competitive performance with strong recall but requires significantly more computation time. EfficientNetB0 performs poorly, indicating failure to learn meaningful features. Overall, MobileNetV2 offers the best balance between performance and efficiency</a:t>
            </a:r>
          </a:p>
        </p:txBody>
      </p:sp>
      <p:pic>
        <p:nvPicPr>
          <p:cNvPr id="5" name="Picture 4">
            <a:extLst>
              <a:ext uri="{FF2B5EF4-FFF2-40B4-BE49-F238E27FC236}">
                <a16:creationId xmlns:a16="http://schemas.microsoft.com/office/drawing/2014/main" id="{9043403D-B361-4F9A-F92E-B00076542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888" y="2405149"/>
            <a:ext cx="9396127" cy="3899393"/>
          </a:xfrm>
          <a:prstGeom prst="rect">
            <a:avLst/>
          </a:prstGeom>
        </p:spPr>
      </p:pic>
    </p:spTree>
    <p:extLst>
      <p:ext uri="{BB962C8B-B14F-4D97-AF65-F5344CB8AC3E}">
        <p14:creationId xmlns:p14="http://schemas.microsoft.com/office/powerpoint/2010/main" val="356385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pPr marL="0" indent="0">
              <a:buNone/>
            </a:pPr>
            <a:endParaRPr lang="en-US" dirty="0"/>
          </a:p>
          <a:p>
            <a:r>
              <a:rPr lang="en-US" dirty="0"/>
              <a:t>A functional face anti-spoofing authentication system has been successfully developed using deep learning. </a:t>
            </a:r>
          </a:p>
          <a:p>
            <a:r>
              <a:rPr lang="en-US" dirty="0"/>
              <a:t>Comparative analysis of MobileNetV2, ResNet50, and EfficientNetB0 has been completed, with MobileNetV2 selected as the best-performing model. </a:t>
            </a:r>
          </a:p>
          <a:p>
            <a:r>
              <a:rPr lang="en-US" dirty="0"/>
              <a:t>The research paper has been drafted and is ready for submission. </a:t>
            </a:r>
          </a:p>
          <a:p>
            <a:pPr marL="0" indent="0">
              <a:buNone/>
            </a:pPr>
            <a:endParaRPr lang="en-US" dirty="0"/>
          </a:p>
        </p:txBody>
      </p:sp>
    </p:spTree>
    <p:extLst>
      <p:ext uri="{BB962C8B-B14F-4D97-AF65-F5344CB8AC3E}">
        <p14:creationId xmlns:p14="http://schemas.microsoft.com/office/powerpoint/2010/main" val="2154956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Sandler et al. – MobileNetV2 (2018)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He et al. – ResNet50 (2016)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Tan &amp; Le – </a:t>
            </a:r>
            <a:r>
              <a:rPr lang="en-US" altLang="en-US" dirty="0" err="1">
                <a:latin typeface="Arial" panose="020B0604020202020204" pitchFamily="34" charset="0"/>
              </a:rPr>
              <a:t>EfficientNet</a:t>
            </a:r>
            <a:r>
              <a:rPr lang="en-US" altLang="en-US" dirty="0">
                <a:latin typeface="Arial" panose="020B0604020202020204" pitchFamily="34" charset="0"/>
              </a:rPr>
              <a:t> (2019)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Goodfellow et al. – GAN (2014) </a:t>
            </a:r>
          </a:p>
          <a:p>
            <a:pPr marL="0" lvl="0" indent="0" eaLnBrk="0" fontAlgn="base" hangingPunct="0">
              <a:lnSpc>
                <a:spcPct val="100000"/>
              </a:lnSpc>
              <a:spcBef>
                <a:spcPct val="0"/>
              </a:spcBef>
              <a:spcAft>
                <a:spcPct val="0"/>
              </a:spcAft>
              <a:buFontTx/>
              <a:buChar char="•"/>
            </a:pPr>
            <a:r>
              <a:rPr lang="en-US" altLang="en-US" dirty="0" err="1">
                <a:latin typeface="Arial" panose="020B0604020202020204" pitchFamily="34" charset="0"/>
              </a:rPr>
              <a:t>Dosovitskiy</a:t>
            </a:r>
            <a:r>
              <a:rPr lang="en-US" altLang="en-US" dirty="0">
                <a:latin typeface="Arial" panose="020B0604020202020204" pitchFamily="34" charset="0"/>
              </a:rPr>
              <a:t> et al. – Vision Transformers (2021) </a:t>
            </a:r>
          </a:p>
          <a:p>
            <a:pPr marL="0" lvl="0" indent="0" eaLnBrk="0" fontAlgn="base" hangingPunct="0">
              <a:lnSpc>
                <a:spcPct val="100000"/>
              </a:lnSpc>
              <a:spcBef>
                <a:spcPct val="0"/>
              </a:spcBef>
              <a:spcAft>
                <a:spcPct val="0"/>
              </a:spcAft>
              <a:buFontTx/>
              <a:buChar char="•"/>
            </a:pPr>
            <a:r>
              <a:rPr lang="en-US" altLang="en-US" dirty="0">
                <a:latin typeface="Arial" panose="020B0604020202020204" pitchFamily="34" charset="0"/>
              </a:rPr>
              <a:t>Liu et al. – Face Anti-Spoofing Models (2018) </a:t>
            </a:r>
          </a:p>
          <a:p>
            <a:pPr marL="0" indent="0">
              <a:buNone/>
            </a:pPr>
            <a:endParaRPr lang="en-IN" dirty="0"/>
          </a:p>
        </p:txBody>
      </p:sp>
    </p:spTree>
    <p:extLst>
      <p:ext uri="{BB962C8B-B14F-4D97-AF65-F5344CB8AC3E}">
        <p14:creationId xmlns:p14="http://schemas.microsoft.com/office/powerpoint/2010/main" val="2724917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718</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Comparative Analysis of Deep Learning Models for Face Anti-Spoofing in Secure Biometric Authentication</vt:lpstr>
      <vt:lpstr>Outline</vt:lpstr>
      <vt:lpstr>Introduction</vt:lpstr>
      <vt:lpstr>PowerPoint Presentation</vt:lpstr>
      <vt:lpstr>Literature Review</vt:lpstr>
      <vt:lpstr>Literature Review </vt:lpstr>
      <vt:lpstr>Literature Review</vt:lpstr>
      <vt:lpstr>PowerPoint Presentation</vt:lpstr>
      <vt:lpstr>Problem Statement</vt:lpstr>
      <vt:lpstr>Objectives</vt:lpstr>
      <vt:lpstr>Proposed Methodology </vt:lpstr>
      <vt:lpstr>Methodology</vt:lpstr>
      <vt:lpstr>Methodology</vt:lpstr>
      <vt:lpstr>PowerPoint Presentation</vt:lpstr>
      <vt:lpstr>Result </vt:lpstr>
      <vt:lpstr>Result </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Tanmay Kaushik [CSE - 2021]</cp:lastModifiedBy>
  <cp:revision>9</cp:revision>
  <dcterms:created xsi:type="dcterms:W3CDTF">2025-09-29T05:03:41Z</dcterms:created>
  <dcterms:modified xsi:type="dcterms:W3CDTF">2026-04-14T03:54:30Z</dcterms:modified>
</cp:coreProperties>
</file>