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4630400" cy="8229600"/>
  <p:notesSz cx="8229600" cy="14630400"/>
  <p:embeddedFontLst>
    <p:embeddedFont>
      <p:font typeface="Merriweather" panose="00000500000000000000" pitchFamily="2" charset="0"/>
      <p:regular r:id="rId21"/>
      <p:bold r:id="rId22"/>
      <p: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397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41938">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63798" y="2216825"/>
            <a:ext cx="12902803" cy="2313861"/>
          </a:xfrm>
          <a:prstGeom prst="rect">
            <a:avLst/>
          </a:prstGeom>
          <a:noFill/>
          <a:ln/>
        </p:spPr>
        <p:txBody>
          <a:bodyPr wrap="square" lIns="0" tIns="0" rIns="0" bIns="0" rtlCol="0" anchor="t"/>
          <a:lstStyle/>
          <a:p>
            <a:pPr marL="0" indent="0">
              <a:lnSpc>
                <a:spcPts val="6050"/>
              </a:lnSpc>
              <a:buNone/>
            </a:pPr>
            <a:r>
              <a:rPr lang="en-US" sz="4850" i="1" u="sng" dirty="0">
                <a:solidFill>
                  <a:srgbClr val="F2F2F2"/>
                </a:solidFill>
                <a:latin typeface="Merriweather" pitchFamily="34" charset="0"/>
                <a:ea typeface="Merriweather" pitchFamily="34" charset="-122"/>
                <a:cs typeface="Merriweather" pitchFamily="34" charset="-120"/>
              </a:rPr>
              <a:t>Revolutionizing Object Detection with Reinforcement Learning in Dynamic Environments</a:t>
            </a:r>
            <a:endParaRPr lang="en-US" sz="4850" dirty="0"/>
          </a:p>
        </p:txBody>
      </p:sp>
      <p:sp>
        <p:nvSpPr>
          <p:cNvPr id="3" name="Text 1"/>
          <p:cNvSpPr/>
          <p:nvPr/>
        </p:nvSpPr>
        <p:spPr>
          <a:xfrm>
            <a:off x="863798" y="5024318"/>
            <a:ext cx="12902803" cy="394811"/>
          </a:xfrm>
          <a:prstGeom prst="rect">
            <a:avLst/>
          </a:prstGeom>
          <a:noFill/>
          <a:ln/>
        </p:spPr>
        <p:txBody>
          <a:bodyPr wrap="none" lIns="0" tIns="0" rIns="0" bIns="0" rtlCol="0" anchor="t"/>
          <a:lstStyle/>
          <a:p>
            <a:pPr marL="0" indent="0">
              <a:lnSpc>
                <a:spcPts val="3100"/>
              </a:lnSpc>
              <a:buNone/>
            </a:pPr>
            <a:endParaRPr lang="en-US" sz="1900" dirty="0"/>
          </a:p>
        </p:txBody>
      </p:sp>
      <p:sp>
        <p:nvSpPr>
          <p:cNvPr id="4" name="Text 2"/>
          <p:cNvSpPr/>
          <p:nvPr/>
        </p:nvSpPr>
        <p:spPr>
          <a:xfrm>
            <a:off x="863798" y="5696783"/>
            <a:ext cx="12902803" cy="315992"/>
          </a:xfrm>
          <a:prstGeom prst="rect">
            <a:avLst/>
          </a:prstGeom>
          <a:noFill/>
          <a:ln/>
        </p:spPr>
        <p:txBody>
          <a:bodyPr wrap="none" lIns="0" tIns="0" rIns="0" bIns="0" rtlCol="0" anchor="t"/>
          <a:lstStyle/>
          <a:p>
            <a:pPr marL="0" indent="0">
              <a:lnSpc>
                <a:spcPts val="2450"/>
              </a:lnSpc>
              <a:buNone/>
            </a:pPr>
            <a:r>
              <a:rPr lang="en-US" sz="1550" dirty="0">
                <a:solidFill>
                  <a:srgbClr val="E2E6E9"/>
                </a:solidFill>
                <a:latin typeface="Merriweather" pitchFamily="34" charset="0"/>
                <a:ea typeface="Merriweather" pitchFamily="34" charset="-122"/>
                <a:cs typeface="Merriweather" pitchFamily="34" charset="-120"/>
              </a:rPr>
              <a:t>Eshanya Padial (23FE10CSE00592</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3798" y="1680924"/>
            <a:ext cx="4936569" cy="616982"/>
          </a:xfrm>
          <a:prstGeom prst="rect">
            <a:avLst/>
          </a:prstGeom>
          <a:noFill/>
          <a:ln/>
        </p:spPr>
        <p:txBody>
          <a:bodyPr wrap="none" lIns="0" tIns="0" rIns="0" bIns="0" rtlCol="0" anchor="t"/>
          <a:lstStyle/>
          <a:p>
            <a:pPr marL="0" indent="0">
              <a:lnSpc>
                <a:spcPts val="4850"/>
              </a:lnSpc>
              <a:buNone/>
            </a:pPr>
            <a:r>
              <a:rPr lang="en-US" sz="3850" i="1" u="sng" dirty="0">
                <a:solidFill>
                  <a:srgbClr val="F5F0F0"/>
                </a:solidFill>
                <a:latin typeface="Merriweather" pitchFamily="34" charset="0"/>
                <a:ea typeface="Merriweather" pitchFamily="34" charset="-122"/>
                <a:cs typeface="Merriweather" pitchFamily="34" charset="-120"/>
              </a:rPr>
              <a:t>Contents</a:t>
            </a:r>
            <a:endParaRPr lang="en-US" sz="3850" dirty="0"/>
          </a:p>
        </p:txBody>
      </p:sp>
      <p:sp>
        <p:nvSpPr>
          <p:cNvPr id="3" name="Text 1"/>
          <p:cNvSpPr/>
          <p:nvPr/>
        </p:nvSpPr>
        <p:spPr>
          <a:xfrm>
            <a:off x="863798" y="2791539"/>
            <a:ext cx="12902803" cy="394811"/>
          </a:xfrm>
          <a:prstGeom prst="rect">
            <a:avLst/>
          </a:prstGeom>
          <a:noFill/>
          <a:ln/>
        </p:spPr>
        <p:txBody>
          <a:bodyPr wrap="non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1.All the factors that affect object detection</a:t>
            </a:r>
            <a:endParaRPr lang="en-US" sz="1900" dirty="0"/>
          </a:p>
        </p:txBody>
      </p:sp>
      <p:sp>
        <p:nvSpPr>
          <p:cNvPr id="4" name="Text 2"/>
          <p:cNvSpPr/>
          <p:nvPr/>
        </p:nvSpPr>
        <p:spPr>
          <a:xfrm>
            <a:off x="863798" y="3464004"/>
            <a:ext cx="12902803" cy="394811"/>
          </a:xfrm>
          <a:prstGeom prst="rect">
            <a:avLst/>
          </a:prstGeom>
          <a:noFill/>
          <a:ln/>
        </p:spPr>
        <p:txBody>
          <a:bodyPr wrap="non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2.Depth Analysis of all the models that already exist for object detection.</a:t>
            </a:r>
            <a:endParaRPr lang="en-US" sz="1900" dirty="0"/>
          </a:p>
        </p:txBody>
      </p:sp>
      <p:sp>
        <p:nvSpPr>
          <p:cNvPr id="5" name="Text 3"/>
          <p:cNvSpPr/>
          <p:nvPr/>
        </p:nvSpPr>
        <p:spPr>
          <a:xfrm>
            <a:off x="863798" y="4136469"/>
            <a:ext cx="12902803" cy="394811"/>
          </a:xfrm>
          <a:prstGeom prst="rect">
            <a:avLst/>
          </a:prstGeom>
          <a:noFill/>
          <a:ln/>
        </p:spPr>
        <p:txBody>
          <a:bodyPr wrap="non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3.Various different frameworks under Multi Agent reinforcement learning.\</a:t>
            </a:r>
            <a:endParaRPr lang="en-US" sz="1900" dirty="0"/>
          </a:p>
        </p:txBody>
      </p:sp>
      <p:sp>
        <p:nvSpPr>
          <p:cNvPr id="6" name="Text 4"/>
          <p:cNvSpPr/>
          <p:nvPr/>
        </p:nvSpPr>
        <p:spPr>
          <a:xfrm>
            <a:off x="863798" y="4808934"/>
            <a:ext cx="12902803" cy="394811"/>
          </a:xfrm>
          <a:prstGeom prst="rect">
            <a:avLst/>
          </a:prstGeom>
          <a:noFill/>
          <a:ln/>
        </p:spPr>
        <p:txBody>
          <a:bodyPr wrap="non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4.Some case studies to prove the efficiency of the MARL Frameworks.</a:t>
            </a:r>
            <a:endParaRPr lang="en-US" sz="1900" dirty="0"/>
          </a:p>
        </p:txBody>
      </p:sp>
      <p:sp>
        <p:nvSpPr>
          <p:cNvPr id="7" name="Text 5"/>
          <p:cNvSpPr/>
          <p:nvPr/>
        </p:nvSpPr>
        <p:spPr>
          <a:xfrm>
            <a:off x="863798" y="5481399"/>
            <a:ext cx="12902803" cy="394811"/>
          </a:xfrm>
          <a:prstGeom prst="rect">
            <a:avLst/>
          </a:prstGeom>
          <a:noFill/>
          <a:ln/>
        </p:spPr>
        <p:txBody>
          <a:bodyPr wrap="non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5.Future of Object Detection.</a:t>
            </a:r>
            <a:endParaRPr lang="en-US" sz="1900" dirty="0"/>
          </a:p>
        </p:txBody>
      </p:sp>
      <p:sp>
        <p:nvSpPr>
          <p:cNvPr id="8" name="Text 6"/>
          <p:cNvSpPr/>
          <p:nvPr/>
        </p:nvSpPr>
        <p:spPr>
          <a:xfrm>
            <a:off x="863798" y="6153864"/>
            <a:ext cx="12902803" cy="394811"/>
          </a:xfrm>
          <a:prstGeom prst="rect">
            <a:avLst/>
          </a:prstGeom>
          <a:noFill/>
          <a:ln/>
        </p:spPr>
        <p:txBody>
          <a:bodyPr wrap="non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6.Conclusion</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3798" y="1360289"/>
            <a:ext cx="10037207" cy="616982"/>
          </a:xfrm>
          <a:prstGeom prst="rect">
            <a:avLst/>
          </a:prstGeom>
          <a:noFill/>
          <a:ln/>
        </p:spPr>
        <p:txBody>
          <a:bodyPr wrap="none" lIns="0" tIns="0" rIns="0" bIns="0" rtlCol="0" anchor="t"/>
          <a:lstStyle/>
          <a:p>
            <a:pPr marL="0" indent="0">
              <a:lnSpc>
                <a:spcPts val="4850"/>
              </a:lnSpc>
              <a:buNone/>
            </a:pPr>
            <a:r>
              <a:rPr lang="en-US" sz="3850" i="1" u="sng" dirty="0">
                <a:solidFill>
                  <a:srgbClr val="F5F0F0"/>
                </a:solidFill>
                <a:latin typeface="Merriweather" pitchFamily="34" charset="0"/>
                <a:ea typeface="Merriweather" pitchFamily="34" charset="-122"/>
                <a:cs typeface="Merriweather" pitchFamily="34" charset="-120"/>
              </a:rPr>
              <a:t>All the factors that affect object detection</a:t>
            </a:r>
            <a:endParaRPr lang="en-US" sz="3850" dirty="0"/>
          </a:p>
        </p:txBody>
      </p:sp>
      <p:sp>
        <p:nvSpPr>
          <p:cNvPr id="3" name="Text 1"/>
          <p:cNvSpPr/>
          <p:nvPr/>
        </p:nvSpPr>
        <p:spPr>
          <a:xfrm>
            <a:off x="863798" y="2476976"/>
            <a:ext cx="3898940" cy="789622"/>
          </a:xfrm>
          <a:prstGeom prst="rect">
            <a:avLst/>
          </a:prstGeom>
          <a:noFill/>
          <a:ln/>
        </p:spPr>
        <p:txBody>
          <a:bodyPr wrap="square" lIns="0" tIns="0" rIns="0" bIns="0" rtlCol="0" anchor="t"/>
          <a:lstStyle/>
          <a:p>
            <a:pPr marL="0" indent="0">
              <a:lnSpc>
                <a:spcPts val="3100"/>
              </a:lnSpc>
              <a:buNone/>
            </a:pPr>
            <a:r>
              <a:rPr lang="en-US" sz="1900" b="1" dirty="0">
                <a:solidFill>
                  <a:srgbClr val="E2E6E9"/>
                </a:solidFill>
                <a:latin typeface="Merriweather" pitchFamily="34" charset="0"/>
                <a:ea typeface="Merriweather" pitchFamily="34" charset="-122"/>
                <a:cs typeface="Merriweather" pitchFamily="34" charset="-120"/>
              </a:rPr>
              <a:t>1-Image Quality and Resolution</a:t>
            </a:r>
            <a:endParaRPr lang="en-US" sz="1900" dirty="0"/>
          </a:p>
        </p:txBody>
      </p:sp>
      <p:sp>
        <p:nvSpPr>
          <p:cNvPr id="4" name="Text 2"/>
          <p:cNvSpPr/>
          <p:nvPr/>
        </p:nvSpPr>
        <p:spPr>
          <a:xfrm>
            <a:off x="863798" y="3488650"/>
            <a:ext cx="3898940" cy="3158490"/>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High-resolution images enhance object detection accuracy, while low-resolution images risk missed detections. YOLOv5 and SSD optimize speed, whereas Faster R-CNN ensures accuracy but demands higher computation.</a:t>
            </a:r>
            <a:endParaRPr lang="en-US" sz="1900" dirty="0"/>
          </a:p>
        </p:txBody>
      </p:sp>
      <p:sp>
        <p:nvSpPr>
          <p:cNvPr id="5" name="Text 3"/>
          <p:cNvSpPr/>
          <p:nvPr/>
        </p:nvSpPr>
        <p:spPr>
          <a:xfrm>
            <a:off x="5372576" y="2476976"/>
            <a:ext cx="3898940" cy="789622"/>
          </a:xfrm>
          <a:prstGeom prst="rect">
            <a:avLst/>
          </a:prstGeom>
          <a:noFill/>
          <a:ln/>
        </p:spPr>
        <p:txBody>
          <a:bodyPr wrap="square" lIns="0" tIns="0" rIns="0" bIns="0" rtlCol="0" anchor="t"/>
          <a:lstStyle/>
          <a:p>
            <a:pPr marL="0" indent="0">
              <a:lnSpc>
                <a:spcPts val="3100"/>
              </a:lnSpc>
              <a:buNone/>
            </a:pPr>
            <a:r>
              <a:rPr lang="en-US" sz="1900" b="1" dirty="0">
                <a:solidFill>
                  <a:srgbClr val="E2E6E9"/>
                </a:solidFill>
                <a:latin typeface="Merriweather" pitchFamily="34" charset="0"/>
                <a:ea typeface="Merriweather" pitchFamily="34" charset="-122"/>
                <a:cs typeface="Merriweather" pitchFamily="34" charset="-120"/>
              </a:rPr>
              <a:t>2-Object Size and Scale Variability</a:t>
            </a:r>
            <a:endParaRPr lang="en-US" sz="1900" dirty="0"/>
          </a:p>
        </p:txBody>
      </p:sp>
      <p:sp>
        <p:nvSpPr>
          <p:cNvPr id="6" name="Text 4"/>
          <p:cNvSpPr/>
          <p:nvPr/>
        </p:nvSpPr>
        <p:spPr>
          <a:xfrm>
            <a:off x="5372576" y="3488650"/>
            <a:ext cx="3898940" cy="2763679"/>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Detecting small objects is challenging due to scale differences. FPN in Faster R-CNN and SSD’s multi-scale feature maps enhance feature representation, improving detection accuracy.</a:t>
            </a:r>
            <a:endParaRPr lang="en-US" sz="1900" dirty="0"/>
          </a:p>
        </p:txBody>
      </p:sp>
      <p:sp>
        <p:nvSpPr>
          <p:cNvPr id="7" name="Text 5"/>
          <p:cNvSpPr/>
          <p:nvPr/>
        </p:nvSpPr>
        <p:spPr>
          <a:xfrm>
            <a:off x="9881354" y="2476976"/>
            <a:ext cx="3900249" cy="394811"/>
          </a:xfrm>
          <a:prstGeom prst="rect">
            <a:avLst/>
          </a:prstGeom>
          <a:noFill/>
          <a:ln/>
        </p:spPr>
        <p:txBody>
          <a:bodyPr wrap="none" lIns="0" tIns="0" rIns="0" bIns="0" rtlCol="0" anchor="t"/>
          <a:lstStyle/>
          <a:p>
            <a:pPr marL="0" indent="0">
              <a:lnSpc>
                <a:spcPts val="3100"/>
              </a:lnSpc>
              <a:buNone/>
            </a:pPr>
            <a:r>
              <a:rPr lang="en-US" sz="1900" b="1" dirty="0">
                <a:solidFill>
                  <a:srgbClr val="E2E6E9"/>
                </a:solidFill>
                <a:latin typeface="Merriweather" pitchFamily="34" charset="0"/>
                <a:ea typeface="Merriweather" pitchFamily="34" charset="-122"/>
                <a:cs typeface="Merriweather" pitchFamily="34" charset="-120"/>
              </a:rPr>
              <a:t>3-Occlusion and Clutter</a:t>
            </a:r>
            <a:endParaRPr lang="en-US" sz="1900" dirty="0"/>
          </a:p>
        </p:txBody>
      </p:sp>
      <p:sp>
        <p:nvSpPr>
          <p:cNvPr id="8" name="Text 6"/>
          <p:cNvSpPr/>
          <p:nvPr/>
        </p:nvSpPr>
        <p:spPr>
          <a:xfrm>
            <a:off x="9881354" y="3093839"/>
            <a:ext cx="3900249" cy="2763679"/>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Occlusions and clutter hinder detection accuracy. Faster R-CNN’s region proposals improve recognition in such cases, while YOLOv5, a single-stage detector, struggles with overlapping objects.</a:t>
            </a:r>
            <a:endParaRPr lang="en-US" sz="1900" dirty="0"/>
          </a:p>
        </p:txBody>
      </p:sp>
      <p:sp>
        <p:nvSpPr>
          <p:cNvPr id="9" name="Text 7"/>
          <p:cNvSpPr/>
          <p:nvPr/>
        </p:nvSpPr>
        <p:spPr>
          <a:xfrm>
            <a:off x="9881354" y="6079569"/>
            <a:ext cx="3900249" cy="394811"/>
          </a:xfrm>
          <a:prstGeom prst="rect">
            <a:avLst/>
          </a:prstGeom>
          <a:noFill/>
          <a:ln/>
        </p:spPr>
        <p:txBody>
          <a:bodyPr wrap="none" lIns="0" tIns="0" rIns="0" bIns="0" rtlCol="0" anchor="t"/>
          <a:lstStyle/>
          <a:p>
            <a:pPr marL="0" indent="0">
              <a:lnSpc>
                <a:spcPts val="3100"/>
              </a:lnSpc>
              <a:buNone/>
            </a:pP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3798" y="1236940"/>
            <a:ext cx="6170771" cy="771287"/>
          </a:xfrm>
          <a:prstGeom prst="rect">
            <a:avLst/>
          </a:prstGeom>
          <a:noFill/>
          <a:ln/>
        </p:spPr>
        <p:txBody>
          <a:bodyPr wrap="none" lIns="0" tIns="0" rIns="0" bIns="0" rtlCol="0" anchor="t"/>
          <a:lstStyle/>
          <a:p>
            <a:pPr marL="0" indent="0">
              <a:lnSpc>
                <a:spcPts val="6050"/>
              </a:lnSpc>
              <a:buNone/>
            </a:pPr>
            <a:endParaRPr lang="en-US" sz="4850" dirty="0"/>
          </a:p>
        </p:txBody>
      </p:sp>
      <p:sp>
        <p:nvSpPr>
          <p:cNvPr id="3" name="Text 1"/>
          <p:cNvSpPr/>
          <p:nvPr/>
        </p:nvSpPr>
        <p:spPr>
          <a:xfrm>
            <a:off x="863798" y="2600444"/>
            <a:ext cx="3898940" cy="789622"/>
          </a:xfrm>
          <a:prstGeom prst="rect">
            <a:avLst/>
          </a:prstGeom>
          <a:noFill/>
          <a:ln/>
        </p:spPr>
        <p:txBody>
          <a:bodyPr wrap="square" lIns="0" tIns="0" rIns="0" bIns="0" rtlCol="0" anchor="t"/>
          <a:lstStyle/>
          <a:p>
            <a:pPr marL="0" indent="0">
              <a:lnSpc>
                <a:spcPts val="3100"/>
              </a:lnSpc>
              <a:buNone/>
            </a:pPr>
            <a:r>
              <a:rPr lang="en-US" sz="1900" b="1" dirty="0">
                <a:solidFill>
                  <a:srgbClr val="E2E6E9"/>
                </a:solidFill>
                <a:latin typeface="Merriweather" pitchFamily="34" charset="0"/>
                <a:ea typeface="Merriweather" pitchFamily="34" charset="-122"/>
                <a:cs typeface="Merriweather" pitchFamily="34" charset="-120"/>
              </a:rPr>
              <a:t>4-Illumination and Lighting Conditions</a:t>
            </a:r>
            <a:endParaRPr lang="en-US" sz="1900" dirty="0"/>
          </a:p>
        </p:txBody>
      </p:sp>
      <p:sp>
        <p:nvSpPr>
          <p:cNvPr id="4" name="Text 2"/>
          <p:cNvSpPr/>
          <p:nvPr/>
        </p:nvSpPr>
        <p:spPr>
          <a:xfrm>
            <a:off x="863798" y="3612118"/>
            <a:ext cx="3898940" cy="3158490"/>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Lighting variations affect detection accuracy. Data augmentation, like brightness and contrast adjustments, helps YOLOv5 and SSD improve generalization, ensuring robustness under diverse lighting conditions.</a:t>
            </a:r>
            <a:endParaRPr lang="en-US" sz="1900" dirty="0"/>
          </a:p>
        </p:txBody>
      </p:sp>
      <p:sp>
        <p:nvSpPr>
          <p:cNvPr id="5" name="Text 3"/>
          <p:cNvSpPr/>
          <p:nvPr/>
        </p:nvSpPr>
        <p:spPr>
          <a:xfrm>
            <a:off x="5372576" y="2600444"/>
            <a:ext cx="3898940" cy="394811"/>
          </a:xfrm>
          <a:prstGeom prst="rect">
            <a:avLst/>
          </a:prstGeom>
          <a:noFill/>
          <a:ln/>
        </p:spPr>
        <p:txBody>
          <a:bodyPr wrap="none" lIns="0" tIns="0" rIns="0" bIns="0" rtlCol="0" anchor="t"/>
          <a:lstStyle/>
          <a:p>
            <a:pPr marL="0" indent="0">
              <a:lnSpc>
                <a:spcPts val="3100"/>
              </a:lnSpc>
              <a:buNone/>
            </a:pPr>
            <a:r>
              <a:rPr lang="en-US" sz="1900" b="1" dirty="0">
                <a:solidFill>
                  <a:srgbClr val="E2E6E9"/>
                </a:solidFill>
                <a:latin typeface="Merriweather" pitchFamily="34" charset="0"/>
                <a:ea typeface="Merriweather" pitchFamily="34" charset="-122"/>
                <a:cs typeface="Merriweather" pitchFamily="34" charset="-120"/>
              </a:rPr>
              <a:t>5-Background Complexity</a:t>
            </a:r>
            <a:endParaRPr lang="en-US" sz="1900" dirty="0"/>
          </a:p>
        </p:txBody>
      </p:sp>
      <p:sp>
        <p:nvSpPr>
          <p:cNvPr id="6" name="Text 4"/>
          <p:cNvSpPr/>
          <p:nvPr/>
        </p:nvSpPr>
        <p:spPr>
          <a:xfrm>
            <a:off x="5372576" y="3217307"/>
            <a:ext cx="3898940" cy="3158490"/>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Complex backgrounds cause false detections. Faster R-CNN’s robust feature extraction enhances object-background differentiation, improving accuracy, while weaker models struggle with intricate scenes and dynamic environments.</a:t>
            </a:r>
            <a:endParaRPr lang="en-US" sz="1900" dirty="0"/>
          </a:p>
        </p:txBody>
      </p:sp>
      <p:sp>
        <p:nvSpPr>
          <p:cNvPr id="7" name="Text 5"/>
          <p:cNvSpPr/>
          <p:nvPr/>
        </p:nvSpPr>
        <p:spPr>
          <a:xfrm>
            <a:off x="9881354" y="2600444"/>
            <a:ext cx="3898940" cy="789622"/>
          </a:xfrm>
          <a:prstGeom prst="rect">
            <a:avLst/>
          </a:prstGeom>
          <a:noFill/>
          <a:ln/>
        </p:spPr>
        <p:txBody>
          <a:bodyPr wrap="square" lIns="0" tIns="0" rIns="0" bIns="0" rtlCol="0" anchor="t"/>
          <a:lstStyle/>
          <a:p>
            <a:pPr marL="0" indent="0">
              <a:lnSpc>
                <a:spcPts val="3100"/>
              </a:lnSpc>
              <a:buNone/>
            </a:pPr>
            <a:r>
              <a:rPr lang="en-US" sz="1900" b="1" dirty="0">
                <a:solidFill>
                  <a:srgbClr val="E2E6E9"/>
                </a:solidFill>
                <a:latin typeface="Merriweather" pitchFamily="34" charset="0"/>
                <a:ea typeface="Merriweather" pitchFamily="34" charset="-122"/>
                <a:cs typeface="Merriweather" pitchFamily="34" charset="-120"/>
              </a:rPr>
              <a:t>6-Real-Time Processing Requirements</a:t>
            </a:r>
            <a:endParaRPr lang="en-US" sz="1900" dirty="0"/>
          </a:p>
        </p:txBody>
      </p:sp>
      <p:sp>
        <p:nvSpPr>
          <p:cNvPr id="8" name="Text 6"/>
          <p:cNvSpPr/>
          <p:nvPr/>
        </p:nvSpPr>
        <p:spPr>
          <a:xfrm>
            <a:off x="9881354" y="3612118"/>
            <a:ext cx="3898940" cy="1974056"/>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Real-time applications need fast detection. YOLOv5 excels in speed with high FPS, balancing accuracy, while some models prioritize precision over speed.</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3798" y="1323261"/>
            <a:ext cx="6170771" cy="771287"/>
          </a:xfrm>
          <a:prstGeom prst="rect">
            <a:avLst/>
          </a:prstGeom>
          <a:noFill/>
          <a:ln/>
        </p:spPr>
        <p:txBody>
          <a:bodyPr wrap="none" lIns="0" tIns="0" rIns="0" bIns="0" rtlCol="0" anchor="t"/>
          <a:lstStyle/>
          <a:p>
            <a:pPr marL="0" indent="0">
              <a:lnSpc>
                <a:spcPts val="6050"/>
              </a:lnSpc>
              <a:buNone/>
            </a:pPr>
            <a:endParaRPr lang="en-US" sz="4850" dirty="0"/>
          </a:p>
        </p:txBody>
      </p:sp>
      <p:sp>
        <p:nvSpPr>
          <p:cNvPr id="3" name="Text 1"/>
          <p:cNvSpPr/>
          <p:nvPr/>
        </p:nvSpPr>
        <p:spPr>
          <a:xfrm>
            <a:off x="863798" y="2686764"/>
            <a:ext cx="3898940" cy="789622"/>
          </a:xfrm>
          <a:prstGeom prst="rect">
            <a:avLst/>
          </a:prstGeom>
          <a:noFill/>
          <a:ln/>
        </p:spPr>
        <p:txBody>
          <a:bodyPr wrap="square" lIns="0" tIns="0" rIns="0" bIns="0" rtlCol="0" anchor="t"/>
          <a:lstStyle/>
          <a:p>
            <a:pPr marL="0" indent="0">
              <a:lnSpc>
                <a:spcPts val="3100"/>
              </a:lnSpc>
              <a:buNone/>
            </a:pPr>
            <a:r>
              <a:rPr lang="en-US" sz="1900" b="1" dirty="0">
                <a:solidFill>
                  <a:srgbClr val="E2E6E9"/>
                </a:solidFill>
                <a:latin typeface="Merriweather" pitchFamily="34" charset="0"/>
                <a:ea typeface="Merriweather" pitchFamily="34" charset="-122"/>
                <a:cs typeface="Merriweather" pitchFamily="34" charset="-120"/>
              </a:rPr>
              <a:t>7-Computational Resources and Efficiency</a:t>
            </a:r>
            <a:endParaRPr lang="en-US" sz="1900" dirty="0"/>
          </a:p>
        </p:txBody>
      </p:sp>
      <p:sp>
        <p:nvSpPr>
          <p:cNvPr id="4" name="Text 2"/>
          <p:cNvSpPr/>
          <p:nvPr/>
        </p:nvSpPr>
        <p:spPr>
          <a:xfrm>
            <a:off x="863798" y="3698438"/>
            <a:ext cx="3898940" cy="1974056"/>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MobileNet-SSD balances accuracy and efficiency, enabling effective detection on resource-constrained edge devices.</a:t>
            </a:r>
            <a:endParaRPr lang="en-US" sz="1900" dirty="0"/>
          </a:p>
        </p:txBody>
      </p:sp>
      <p:sp>
        <p:nvSpPr>
          <p:cNvPr id="5" name="Text 3"/>
          <p:cNvSpPr/>
          <p:nvPr/>
        </p:nvSpPr>
        <p:spPr>
          <a:xfrm>
            <a:off x="5372576" y="2686764"/>
            <a:ext cx="3898940" cy="789622"/>
          </a:xfrm>
          <a:prstGeom prst="rect">
            <a:avLst/>
          </a:prstGeom>
          <a:noFill/>
          <a:ln/>
        </p:spPr>
        <p:txBody>
          <a:bodyPr wrap="square" lIns="0" tIns="0" rIns="0" bIns="0" rtlCol="0" anchor="t"/>
          <a:lstStyle/>
          <a:p>
            <a:pPr marL="0" indent="0">
              <a:lnSpc>
                <a:spcPts val="3100"/>
              </a:lnSpc>
              <a:buNone/>
            </a:pPr>
            <a:r>
              <a:rPr lang="en-US" sz="1900" b="1" dirty="0">
                <a:solidFill>
                  <a:srgbClr val="E2E6E9"/>
                </a:solidFill>
                <a:latin typeface="Merriweather" pitchFamily="34" charset="0"/>
                <a:ea typeface="Merriweather" pitchFamily="34" charset="-122"/>
                <a:cs typeface="Merriweather" pitchFamily="34" charset="-120"/>
              </a:rPr>
              <a:t>8-Training Data Diversity and Quality</a:t>
            </a:r>
            <a:endParaRPr lang="en-US" sz="1900" dirty="0"/>
          </a:p>
        </p:txBody>
      </p:sp>
      <p:sp>
        <p:nvSpPr>
          <p:cNvPr id="6" name="Text 4"/>
          <p:cNvSpPr/>
          <p:nvPr/>
        </p:nvSpPr>
        <p:spPr>
          <a:xfrm>
            <a:off x="5372576" y="3698438"/>
            <a:ext cx="3898940" cy="2368868"/>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Diverse, high-quality data improves generalization. Data augmentation and transfer learning help YOLOv5 adapt to unseen scenarios, reducing bias and enhancing robustness.</a:t>
            </a:r>
            <a:endParaRPr lang="en-US" sz="1900" dirty="0"/>
          </a:p>
        </p:txBody>
      </p:sp>
      <p:sp>
        <p:nvSpPr>
          <p:cNvPr id="7" name="Text 5"/>
          <p:cNvSpPr/>
          <p:nvPr/>
        </p:nvSpPr>
        <p:spPr>
          <a:xfrm>
            <a:off x="9881354" y="2686764"/>
            <a:ext cx="3900249" cy="789622"/>
          </a:xfrm>
          <a:prstGeom prst="rect">
            <a:avLst/>
          </a:prstGeom>
          <a:noFill/>
          <a:ln/>
        </p:spPr>
        <p:txBody>
          <a:bodyPr wrap="square" lIns="0" tIns="0" rIns="0" bIns="0" rtlCol="0" anchor="t"/>
          <a:lstStyle/>
          <a:p>
            <a:pPr marL="0" indent="0">
              <a:lnSpc>
                <a:spcPts val="3100"/>
              </a:lnSpc>
              <a:buNone/>
            </a:pPr>
            <a:r>
              <a:rPr lang="en-US" sz="1900" b="1" dirty="0">
                <a:solidFill>
                  <a:srgbClr val="E2E6E9"/>
                </a:solidFill>
                <a:latin typeface="Merriweather" pitchFamily="34" charset="0"/>
                <a:ea typeface="Merriweather" pitchFamily="34" charset="-122"/>
                <a:cs typeface="Merriweather" pitchFamily="34" charset="-120"/>
              </a:rPr>
              <a:t>9-All the factors that affect object detection</a:t>
            </a:r>
            <a:endParaRPr lang="en-US" sz="1900" dirty="0"/>
          </a:p>
        </p:txBody>
      </p:sp>
      <p:sp>
        <p:nvSpPr>
          <p:cNvPr id="8" name="Text 6"/>
          <p:cNvSpPr/>
          <p:nvPr/>
        </p:nvSpPr>
        <p:spPr>
          <a:xfrm>
            <a:off x="9881354" y="3698438"/>
            <a:ext cx="3900249" cy="2368868"/>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YOLOv5 and SSD prioritize speed with simpler architectures, while Faster R-CNN offers higher accuracy but demands more computational resources.</a:t>
            </a:r>
            <a:endParaRPr lang="en-US" sz="1900" dirty="0"/>
          </a:p>
        </p:txBody>
      </p:sp>
      <p:sp>
        <p:nvSpPr>
          <p:cNvPr id="9" name="Text 7"/>
          <p:cNvSpPr/>
          <p:nvPr/>
        </p:nvSpPr>
        <p:spPr>
          <a:xfrm>
            <a:off x="9881354" y="6289358"/>
            <a:ext cx="3900249" cy="394811"/>
          </a:xfrm>
          <a:prstGeom prst="rect">
            <a:avLst/>
          </a:prstGeom>
          <a:noFill/>
          <a:ln/>
        </p:spPr>
        <p:txBody>
          <a:bodyPr wrap="none" lIns="0" tIns="0" rIns="0" bIns="0" rtlCol="0" anchor="t"/>
          <a:lstStyle/>
          <a:p>
            <a:pPr marL="0" indent="0">
              <a:lnSpc>
                <a:spcPts val="3100"/>
              </a:lnSpc>
              <a:buNone/>
            </a:pP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63798" y="1915478"/>
            <a:ext cx="6170771" cy="771287"/>
          </a:xfrm>
          <a:prstGeom prst="rect">
            <a:avLst/>
          </a:prstGeom>
          <a:noFill/>
          <a:ln/>
        </p:spPr>
        <p:txBody>
          <a:bodyPr wrap="none" lIns="0" tIns="0" rIns="0" bIns="0" rtlCol="0" anchor="t"/>
          <a:lstStyle/>
          <a:p>
            <a:pPr marL="0" indent="0">
              <a:lnSpc>
                <a:spcPts val="6050"/>
              </a:lnSpc>
              <a:buNone/>
            </a:pPr>
            <a:endParaRPr lang="en-US" sz="4850" dirty="0"/>
          </a:p>
        </p:txBody>
      </p:sp>
      <p:sp>
        <p:nvSpPr>
          <p:cNvPr id="3" name="Text 1"/>
          <p:cNvSpPr/>
          <p:nvPr/>
        </p:nvSpPr>
        <p:spPr>
          <a:xfrm>
            <a:off x="863798" y="3278981"/>
            <a:ext cx="6150293" cy="394811"/>
          </a:xfrm>
          <a:prstGeom prst="rect">
            <a:avLst/>
          </a:prstGeom>
          <a:noFill/>
          <a:ln/>
        </p:spPr>
        <p:txBody>
          <a:bodyPr wrap="none" lIns="0" tIns="0" rIns="0" bIns="0" rtlCol="0" anchor="t"/>
          <a:lstStyle/>
          <a:p>
            <a:pPr marL="0" indent="0">
              <a:lnSpc>
                <a:spcPts val="3100"/>
              </a:lnSpc>
              <a:buNone/>
            </a:pPr>
            <a:r>
              <a:rPr lang="en-US" sz="1900" b="1" dirty="0">
                <a:solidFill>
                  <a:srgbClr val="E2E6E9"/>
                </a:solidFill>
                <a:latin typeface="Merriweather" pitchFamily="34" charset="0"/>
                <a:ea typeface="Merriweather" pitchFamily="34" charset="-122"/>
                <a:cs typeface="Merriweather" pitchFamily="34" charset="-120"/>
              </a:rPr>
              <a:t>10-Adaptability to Environmental Changes</a:t>
            </a:r>
            <a:endParaRPr lang="en-US" sz="1900" dirty="0"/>
          </a:p>
        </p:txBody>
      </p:sp>
      <p:sp>
        <p:nvSpPr>
          <p:cNvPr id="4" name="Text 2"/>
          <p:cNvSpPr/>
          <p:nvPr/>
        </p:nvSpPr>
        <p:spPr>
          <a:xfrm>
            <a:off x="863798" y="3895844"/>
            <a:ext cx="6150293" cy="1579245"/>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Reinforcement learning and hybrid AI improve object detection adaptability, handling environmental changes without frequent retraining, ensuring robust performance.</a:t>
            </a:r>
            <a:endParaRPr lang="en-US" sz="1900" dirty="0"/>
          </a:p>
        </p:txBody>
      </p:sp>
      <p:sp>
        <p:nvSpPr>
          <p:cNvPr id="5" name="Text 3"/>
          <p:cNvSpPr/>
          <p:nvPr/>
        </p:nvSpPr>
        <p:spPr>
          <a:xfrm>
            <a:off x="7623929" y="3278981"/>
            <a:ext cx="6150293" cy="394811"/>
          </a:xfrm>
          <a:prstGeom prst="rect">
            <a:avLst/>
          </a:prstGeom>
          <a:noFill/>
          <a:ln/>
        </p:spPr>
        <p:txBody>
          <a:bodyPr wrap="none" lIns="0" tIns="0" rIns="0" bIns="0" rtlCol="0" anchor="t"/>
          <a:lstStyle/>
          <a:p>
            <a:pPr marL="0" indent="0">
              <a:lnSpc>
                <a:spcPts val="3100"/>
              </a:lnSpc>
              <a:buNone/>
            </a:pPr>
            <a:r>
              <a:rPr lang="en-US" sz="1900" b="1" dirty="0">
                <a:solidFill>
                  <a:srgbClr val="E2E6E9"/>
                </a:solidFill>
                <a:latin typeface="Merriweather" pitchFamily="34" charset="0"/>
                <a:ea typeface="Merriweather" pitchFamily="34" charset="-122"/>
                <a:cs typeface="Merriweather" pitchFamily="34" charset="-120"/>
              </a:rPr>
              <a:t>11-Post-Processing Techniques</a:t>
            </a:r>
            <a:endParaRPr lang="en-US" sz="1900" dirty="0"/>
          </a:p>
        </p:txBody>
      </p:sp>
      <p:sp>
        <p:nvSpPr>
          <p:cNvPr id="6" name="Text 4"/>
          <p:cNvSpPr/>
          <p:nvPr/>
        </p:nvSpPr>
        <p:spPr>
          <a:xfrm>
            <a:off x="7623929" y="3895844"/>
            <a:ext cx="6150293" cy="1579245"/>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Optimized Non-Maximum Suppression (NMS) in YOLOv5 and Faster R-CNN refines detections, reducing redundancy while maintaining detection accuracy.</a:t>
            </a:r>
            <a:endParaRPr lang="en-US" sz="1900" dirty="0"/>
          </a:p>
        </p:txBody>
      </p:sp>
      <p:sp>
        <p:nvSpPr>
          <p:cNvPr id="7" name="Text 5"/>
          <p:cNvSpPr/>
          <p:nvPr/>
        </p:nvSpPr>
        <p:spPr>
          <a:xfrm>
            <a:off x="7623929" y="5697141"/>
            <a:ext cx="6150293" cy="394811"/>
          </a:xfrm>
          <a:prstGeom prst="rect">
            <a:avLst/>
          </a:prstGeom>
          <a:noFill/>
          <a:ln/>
        </p:spPr>
        <p:txBody>
          <a:bodyPr wrap="none" lIns="0" tIns="0" rIns="0" bIns="0" rtlCol="0" anchor="t"/>
          <a:lstStyle/>
          <a:p>
            <a:pPr marL="0" indent="0">
              <a:lnSpc>
                <a:spcPts val="3100"/>
              </a:lnSpc>
              <a:buNone/>
            </a:pP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3798" y="1116449"/>
            <a:ext cx="12902803" cy="1233964"/>
          </a:xfrm>
          <a:prstGeom prst="rect">
            <a:avLst/>
          </a:prstGeom>
          <a:noFill/>
          <a:ln/>
        </p:spPr>
        <p:txBody>
          <a:bodyPr wrap="square" lIns="0" tIns="0" rIns="0" bIns="0" rtlCol="0" anchor="t"/>
          <a:lstStyle/>
          <a:p>
            <a:pPr marL="0" indent="0">
              <a:lnSpc>
                <a:spcPts val="4850"/>
              </a:lnSpc>
              <a:buNone/>
            </a:pPr>
            <a:r>
              <a:rPr lang="en-US" sz="3850" i="1" u="sng" dirty="0">
                <a:solidFill>
                  <a:srgbClr val="F5F0F0"/>
                </a:solidFill>
                <a:latin typeface="Merriweather" pitchFamily="34" charset="0"/>
                <a:ea typeface="Merriweather" pitchFamily="34" charset="-122"/>
                <a:cs typeface="Merriweather" pitchFamily="34" charset="-120"/>
              </a:rPr>
              <a:t>Depth Analysis of all the models that already exist for object detection</a:t>
            </a:r>
            <a:endParaRPr lang="en-US" sz="3850" dirty="0"/>
          </a:p>
        </p:txBody>
      </p:sp>
      <p:sp>
        <p:nvSpPr>
          <p:cNvPr id="3" name="Text 1"/>
          <p:cNvSpPr/>
          <p:nvPr/>
        </p:nvSpPr>
        <p:spPr>
          <a:xfrm>
            <a:off x="863798" y="2844046"/>
            <a:ext cx="12902803"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Based on architecture ,efficiency and mechanisms.</a:t>
            </a:r>
            <a:endParaRPr lang="en-US" sz="1900" dirty="0"/>
          </a:p>
        </p:txBody>
      </p:sp>
      <p:sp>
        <p:nvSpPr>
          <p:cNvPr id="4" name="Text 2"/>
          <p:cNvSpPr/>
          <p:nvPr/>
        </p:nvSpPr>
        <p:spPr>
          <a:xfrm>
            <a:off x="863798" y="3516511"/>
            <a:ext cx="12902803" cy="394811"/>
          </a:xfrm>
          <a:prstGeom prst="rect">
            <a:avLst/>
          </a:prstGeom>
          <a:noFill/>
          <a:ln/>
        </p:spPr>
        <p:txBody>
          <a:bodyPr wrap="none" lIns="0" tIns="0" rIns="0" bIns="0" rtlCol="0" anchor="t"/>
          <a:lstStyle/>
          <a:p>
            <a:pPr marL="342900" indent="-342900">
              <a:lnSpc>
                <a:spcPts val="3100"/>
              </a:lnSpc>
              <a:buSzPct val="100000"/>
              <a:buChar char="•"/>
            </a:pPr>
            <a:r>
              <a:rPr lang="en-US" sz="1900" b="1" dirty="0">
                <a:solidFill>
                  <a:srgbClr val="E2E6E9"/>
                </a:solidFill>
                <a:latin typeface="Merriweather" pitchFamily="34" charset="0"/>
                <a:ea typeface="Merriweather" pitchFamily="34" charset="-122"/>
                <a:cs typeface="Merriweather" pitchFamily="34" charset="-120"/>
              </a:rPr>
              <a:t>1. YOLOv5 (2022)</a:t>
            </a:r>
            <a:endParaRPr lang="en-US" sz="1900" dirty="0"/>
          </a:p>
        </p:txBody>
      </p:sp>
      <p:sp>
        <p:nvSpPr>
          <p:cNvPr id="5" name="Text 3"/>
          <p:cNvSpPr/>
          <p:nvPr/>
        </p:nvSpPr>
        <p:spPr>
          <a:xfrm>
            <a:off x="863798" y="4188976"/>
            <a:ext cx="12902803"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A single-stage object detector using CSPDarknet53 as a backbone, PANet for multi-scale feature fusion, and an efficient detection head. It balances speed (140 FPS) and accuracy (50-55% mAP) but struggles with small-object localization and generalization.</a:t>
            </a:r>
            <a:endParaRPr lang="en-US" sz="1900" dirty="0"/>
          </a:p>
        </p:txBody>
      </p:sp>
      <p:sp>
        <p:nvSpPr>
          <p:cNvPr id="6" name="Text 4"/>
          <p:cNvSpPr/>
          <p:nvPr/>
        </p:nvSpPr>
        <p:spPr>
          <a:xfrm>
            <a:off x="863798" y="5651063"/>
            <a:ext cx="12902803" cy="394811"/>
          </a:xfrm>
          <a:prstGeom prst="rect">
            <a:avLst/>
          </a:prstGeom>
          <a:noFill/>
          <a:ln/>
        </p:spPr>
        <p:txBody>
          <a:bodyPr wrap="none" lIns="0" tIns="0" rIns="0" bIns="0" rtlCol="0" anchor="t"/>
          <a:lstStyle/>
          <a:p>
            <a:pPr marL="342900" indent="-342900">
              <a:lnSpc>
                <a:spcPts val="3100"/>
              </a:lnSpc>
              <a:buSzPct val="100000"/>
              <a:buChar char="•"/>
            </a:pPr>
            <a:r>
              <a:rPr lang="en-US" sz="1900" b="1" dirty="0">
                <a:solidFill>
                  <a:srgbClr val="E2E6E9"/>
                </a:solidFill>
                <a:latin typeface="Merriweather" pitchFamily="34" charset="0"/>
                <a:ea typeface="Merriweather" pitchFamily="34" charset="-122"/>
                <a:cs typeface="Merriweather" pitchFamily="34" charset="-120"/>
              </a:rPr>
              <a:t>2. Faster R-CNN (2015)</a:t>
            </a:r>
            <a:endParaRPr lang="en-US" sz="1900" dirty="0"/>
          </a:p>
        </p:txBody>
      </p:sp>
      <p:sp>
        <p:nvSpPr>
          <p:cNvPr id="7" name="Text 5"/>
          <p:cNvSpPr/>
          <p:nvPr/>
        </p:nvSpPr>
        <p:spPr>
          <a:xfrm>
            <a:off x="863798" y="6323528"/>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Two-stage detector with an RPN for proposals and Fast R-CNN for classification. High accuracy (60-70% mAP) but slow (7 FPS) due to computational complexity, making it unsuitable for real-time applications.</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3798" y="1011555"/>
            <a:ext cx="6170771" cy="771287"/>
          </a:xfrm>
          <a:prstGeom prst="rect">
            <a:avLst/>
          </a:prstGeom>
          <a:noFill/>
          <a:ln/>
        </p:spPr>
        <p:txBody>
          <a:bodyPr wrap="none" lIns="0" tIns="0" rIns="0" bIns="0" rtlCol="0" anchor="t"/>
          <a:lstStyle/>
          <a:p>
            <a:pPr marL="0" indent="0">
              <a:lnSpc>
                <a:spcPts val="6050"/>
              </a:lnSpc>
              <a:buNone/>
            </a:pPr>
            <a:endParaRPr lang="en-US" sz="4850" dirty="0"/>
          </a:p>
        </p:txBody>
      </p:sp>
      <p:sp>
        <p:nvSpPr>
          <p:cNvPr id="3" name="Text 1"/>
          <p:cNvSpPr/>
          <p:nvPr/>
        </p:nvSpPr>
        <p:spPr>
          <a:xfrm>
            <a:off x="863798" y="2276475"/>
            <a:ext cx="12902803" cy="394811"/>
          </a:xfrm>
          <a:prstGeom prst="rect">
            <a:avLst/>
          </a:prstGeom>
          <a:noFill/>
          <a:ln/>
        </p:spPr>
        <p:txBody>
          <a:bodyPr wrap="none" lIns="0" tIns="0" rIns="0" bIns="0" rtlCol="0" anchor="t"/>
          <a:lstStyle/>
          <a:p>
            <a:pPr marL="342900" indent="-342900">
              <a:lnSpc>
                <a:spcPts val="3100"/>
              </a:lnSpc>
              <a:buSzPct val="100000"/>
              <a:buChar char="•"/>
            </a:pPr>
            <a:r>
              <a:rPr lang="en-US" sz="1900" b="1" dirty="0">
                <a:solidFill>
                  <a:srgbClr val="E2E6E9"/>
                </a:solidFill>
                <a:latin typeface="Merriweather" pitchFamily="34" charset="0"/>
                <a:ea typeface="Merriweather" pitchFamily="34" charset="-122"/>
                <a:cs typeface="Merriweather" pitchFamily="34" charset="-120"/>
              </a:rPr>
              <a:t>3. SSD (2016)</a:t>
            </a:r>
            <a:endParaRPr lang="en-US" sz="1900" dirty="0"/>
          </a:p>
        </p:txBody>
      </p:sp>
      <p:sp>
        <p:nvSpPr>
          <p:cNvPr id="4" name="Text 2"/>
          <p:cNvSpPr/>
          <p:nvPr/>
        </p:nvSpPr>
        <p:spPr>
          <a:xfrm>
            <a:off x="863798" y="2948940"/>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Single-stage model with multi-scale feature maps and default boxes. Fast (50-80 FPS) and efficient (45-50% mAP) but struggles with small, densely packed objects compared to two-stage detectors.</a:t>
            </a:r>
            <a:endParaRPr lang="en-US" sz="1900" dirty="0"/>
          </a:p>
        </p:txBody>
      </p:sp>
      <p:sp>
        <p:nvSpPr>
          <p:cNvPr id="5" name="Text 3"/>
          <p:cNvSpPr/>
          <p:nvPr/>
        </p:nvSpPr>
        <p:spPr>
          <a:xfrm>
            <a:off x="863798" y="4016216"/>
            <a:ext cx="12902803" cy="394811"/>
          </a:xfrm>
          <a:prstGeom prst="rect">
            <a:avLst/>
          </a:prstGeom>
          <a:noFill/>
          <a:ln/>
        </p:spPr>
        <p:txBody>
          <a:bodyPr wrap="none" lIns="0" tIns="0" rIns="0" bIns="0" rtlCol="0" anchor="t"/>
          <a:lstStyle/>
          <a:p>
            <a:pPr marL="342900" indent="-342900">
              <a:lnSpc>
                <a:spcPts val="3100"/>
              </a:lnSpc>
              <a:buSzPct val="100000"/>
              <a:buChar char="•"/>
            </a:pPr>
            <a:r>
              <a:rPr lang="en-US" sz="1900" b="1" dirty="0">
                <a:solidFill>
                  <a:srgbClr val="E2E6E9"/>
                </a:solidFill>
                <a:latin typeface="Merriweather" pitchFamily="34" charset="0"/>
                <a:ea typeface="Merriweather" pitchFamily="34" charset="-122"/>
                <a:cs typeface="Merriweather" pitchFamily="34" charset="-120"/>
              </a:rPr>
              <a:t>4. MobileNet-SSD (2017)</a:t>
            </a:r>
            <a:endParaRPr lang="en-US" sz="1900" dirty="0"/>
          </a:p>
        </p:txBody>
      </p:sp>
      <p:sp>
        <p:nvSpPr>
          <p:cNvPr id="6" name="Text 4"/>
          <p:cNvSpPr/>
          <p:nvPr/>
        </p:nvSpPr>
        <p:spPr>
          <a:xfrm>
            <a:off x="863798" y="4688681"/>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Lightweight MobileNet as backbone with SSD for efficient mobile-friendly detection (30 FPS). Optimized for low-power devices but sacrifices accuracy (40-45% mAP), especially for small objects.</a:t>
            </a:r>
            <a:endParaRPr lang="en-US" sz="1900" dirty="0"/>
          </a:p>
        </p:txBody>
      </p:sp>
      <p:sp>
        <p:nvSpPr>
          <p:cNvPr id="7" name="Text 5"/>
          <p:cNvSpPr/>
          <p:nvPr/>
        </p:nvSpPr>
        <p:spPr>
          <a:xfrm>
            <a:off x="863798" y="5755958"/>
            <a:ext cx="12902803" cy="394811"/>
          </a:xfrm>
          <a:prstGeom prst="rect">
            <a:avLst/>
          </a:prstGeom>
          <a:noFill/>
          <a:ln/>
        </p:spPr>
        <p:txBody>
          <a:bodyPr wrap="none" lIns="0" tIns="0" rIns="0" bIns="0" rtlCol="0" anchor="t"/>
          <a:lstStyle/>
          <a:p>
            <a:pPr marL="342900" indent="-342900">
              <a:lnSpc>
                <a:spcPts val="3100"/>
              </a:lnSpc>
              <a:buSzPct val="100000"/>
              <a:buChar char="•"/>
            </a:pPr>
            <a:r>
              <a:rPr lang="en-US" sz="1900" b="1" dirty="0">
                <a:solidFill>
                  <a:srgbClr val="E2E6E9"/>
                </a:solidFill>
                <a:latin typeface="Merriweather" pitchFamily="34" charset="0"/>
                <a:ea typeface="Merriweather" pitchFamily="34" charset="-122"/>
                <a:cs typeface="Merriweather" pitchFamily="34" charset="-120"/>
              </a:rPr>
              <a:t>5. Vision Transformers (ViT) (2020)</a:t>
            </a:r>
            <a:endParaRPr lang="en-US" sz="1900" dirty="0"/>
          </a:p>
        </p:txBody>
      </p:sp>
      <p:sp>
        <p:nvSpPr>
          <p:cNvPr id="8" name="Text 6"/>
          <p:cNvSpPr/>
          <p:nvPr/>
        </p:nvSpPr>
        <p:spPr>
          <a:xfrm>
            <a:off x="863798" y="6428423"/>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Uses patch embeddings and transformer encoders for global context modeling. Competitive accuracy but requires high computational power, limiting real-time and edge applications.</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63798" y="1011555"/>
            <a:ext cx="6170771" cy="771287"/>
          </a:xfrm>
          <a:prstGeom prst="rect">
            <a:avLst/>
          </a:prstGeom>
          <a:noFill/>
          <a:ln/>
        </p:spPr>
        <p:txBody>
          <a:bodyPr wrap="none" lIns="0" tIns="0" rIns="0" bIns="0" rtlCol="0" anchor="t"/>
          <a:lstStyle/>
          <a:p>
            <a:pPr marL="0" indent="0">
              <a:lnSpc>
                <a:spcPts val="6050"/>
              </a:lnSpc>
              <a:buNone/>
            </a:pPr>
            <a:endParaRPr lang="en-US" sz="4850" dirty="0"/>
          </a:p>
        </p:txBody>
      </p:sp>
      <p:sp>
        <p:nvSpPr>
          <p:cNvPr id="3" name="Text 1"/>
          <p:cNvSpPr/>
          <p:nvPr/>
        </p:nvSpPr>
        <p:spPr>
          <a:xfrm>
            <a:off x="863798" y="2276475"/>
            <a:ext cx="12902803" cy="394811"/>
          </a:xfrm>
          <a:prstGeom prst="rect">
            <a:avLst/>
          </a:prstGeom>
          <a:noFill/>
          <a:ln/>
        </p:spPr>
        <p:txBody>
          <a:bodyPr wrap="none" lIns="0" tIns="0" rIns="0" bIns="0" rtlCol="0" anchor="t"/>
          <a:lstStyle/>
          <a:p>
            <a:pPr marL="342900" indent="-342900">
              <a:lnSpc>
                <a:spcPts val="3100"/>
              </a:lnSpc>
              <a:buSzPct val="100000"/>
              <a:buChar char="•"/>
            </a:pPr>
            <a:r>
              <a:rPr lang="en-US" sz="1900" b="1" dirty="0">
                <a:solidFill>
                  <a:srgbClr val="E2E6E9"/>
                </a:solidFill>
                <a:latin typeface="Merriweather" pitchFamily="34" charset="0"/>
                <a:ea typeface="Merriweather" pitchFamily="34" charset="-122"/>
                <a:cs typeface="Merriweather" pitchFamily="34" charset="-120"/>
              </a:rPr>
              <a:t>6. DeepSORT with Kalman Filtering (2022)</a:t>
            </a:r>
            <a:endParaRPr lang="en-US" sz="1900" dirty="0"/>
          </a:p>
        </p:txBody>
      </p:sp>
      <p:sp>
        <p:nvSpPr>
          <p:cNvPr id="4" name="Text 2"/>
          <p:cNvSpPr/>
          <p:nvPr/>
        </p:nvSpPr>
        <p:spPr>
          <a:xfrm>
            <a:off x="863798" y="2948940"/>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Enhances object tracking using deep learning embeddings, Kalman filtering, and the Hungarian algorithm. Reduces identity switches but depends on detector accuracy and adds computational overhead.</a:t>
            </a:r>
            <a:endParaRPr lang="en-US" sz="1900" dirty="0"/>
          </a:p>
        </p:txBody>
      </p:sp>
      <p:sp>
        <p:nvSpPr>
          <p:cNvPr id="5" name="Text 3"/>
          <p:cNvSpPr/>
          <p:nvPr/>
        </p:nvSpPr>
        <p:spPr>
          <a:xfrm>
            <a:off x="863798" y="4016216"/>
            <a:ext cx="12902803" cy="394811"/>
          </a:xfrm>
          <a:prstGeom prst="rect">
            <a:avLst/>
          </a:prstGeom>
          <a:noFill/>
          <a:ln/>
        </p:spPr>
        <p:txBody>
          <a:bodyPr wrap="none" lIns="0" tIns="0" rIns="0" bIns="0" rtlCol="0" anchor="t"/>
          <a:lstStyle/>
          <a:p>
            <a:pPr marL="342900" indent="-342900">
              <a:lnSpc>
                <a:spcPts val="3100"/>
              </a:lnSpc>
              <a:buSzPct val="100000"/>
              <a:buChar char="•"/>
            </a:pPr>
            <a:r>
              <a:rPr lang="en-US" sz="1900" b="1" dirty="0">
                <a:solidFill>
                  <a:srgbClr val="E2E6E9"/>
                </a:solidFill>
                <a:latin typeface="Merriweather" pitchFamily="34" charset="0"/>
                <a:ea typeface="Merriweather" pitchFamily="34" charset="-122"/>
                <a:cs typeface="Merriweather" pitchFamily="34" charset="-120"/>
              </a:rPr>
              <a:t>7. TensorRT Optimization (2022)</a:t>
            </a:r>
            <a:endParaRPr lang="en-US" sz="1900" dirty="0"/>
          </a:p>
        </p:txBody>
      </p:sp>
      <p:sp>
        <p:nvSpPr>
          <p:cNvPr id="6" name="Text 4"/>
          <p:cNvSpPr/>
          <p:nvPr/>
        </p:nvSpPr>
        <p:spPr>
          <a:xfrm>
            <a:off x="863798" y="4688681"/>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Optimizes inference via precision calibration, layer fusion, and kernel tuning. Achieves up to 8x speedup but is NVIDIA-specific and requires expertise for fine-tuning.</a:t>
            </a:r>
            <a:endParaRPr lang="en-US" sz="1900" dirty="0"/>
          </a:p>
        </p:txBody>
      </p:sp>
      <p:sp>
        <p:nvSpPr>
          <p:cNvPr id="7" name="Text 5"/>
          <p:cNvSpPr/>
          <p:nvPr/>
        </p:nvSpPr>
        <p:spPr>
          <a:xfrm>
            <a:off x="863798" y="5755958"/>
            <a:ext cx="12902803" cy="394811"/>
          </a:xfrm>
          <a:prstGeom prst="rect">
            <a:avLst/>
          </a:prstGeom>
          <a:noFill/>
          <a:ln/>
        </p:spPr>
        <p:txBody>
          <a:bodyPr wrap="none" lIns="0" tIns="0" rIns="0" bIns="0" rtlCol="0" anchor="t"/>
          <a:lstStyle/>
          <a:p>
            <a:pPr marL="342900" indent="-342900">
              <a:lnSpc>
                <a:spcPts val="3100"/>
              </a:lnSpc>
              <a:buSzPct val="100000"/>
              <a:buChar char="•"/>
            </a:pPr>
            <a:r>
              <a:rPr lang="en-US" sz="1900" b="1" dirty="0">
                <a:solidFill>
                  <a:srgbClr val="E2E6E9"/>
                </a:solidFill>
                <a:latin typeface="Merriweather" pitchFamily="34" charset="0"/>
                <a:ea typeface="Merriweather" pitchFamily="34" charset="-122"/>
                <a:cs typeface="Merriweather" pitchFamily="34" charset="-120"/>
              </a:rPr>
              <a:t>8. Hardware FPGA Acceleration (2022)</a:t>
            </a:r>
            <a:endParaRPr lang="en-US" sz="1900" dirty="0"/>
          </a:p>
        </p:txBody>
      </p:sp>
      <p:sp>
        <p:nvSpPr>
          <p:cNvPr id="8" name="Text 6"/>
          <p:cNvSpPr/>
          <p:nvPr/>
        </p:nvSpPr>
        <p:spPr>
          <a:xfrm>
            <a:off x="863798" y="6428423"/>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Parallel execution and configurable logic blocks enable low-latency, energy-efficient AI processing. Requires Verilog/VHDL expertise and lacks flexibility for rapid architecture changes.</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63798" y="714732"/>
            <a:ext cx="6170771" cy="771287"/>
          </a:xfrm>
          <a:prstGeom prst="rect">
            <a:avLst/>
          </a:prstGeom>
          <a:noFill/>
          <a:ln/>
        </p:spPr>
        <p:txBody>
          <a:bodyPr wrap="none" lIns="0" tIns="0" rIns="0" bIns="0" rtlCol="0" anchor="t"/>
          <a:lstStyle/>
          <a:p>
            <a:pPr marL="0" indent="0">
              <a:lnSpc>
                <a:spcPts val="6050"/>
              </a:lnSpc>
              <a:buNone/>
            </a:pPr>
            <a:endParaRPr lang="en-US" sz="4850" dirty="0"/>
          </a:p>
        </p:txBody>
      </p:sp>
      <p:sp>
        <p:nvSpPr>
          <p:cNvPr id="3" name="Text 1"/>
          <p:cNvSpPr/>
          <p:nvPr/>
        </p:nvSpPr>
        <p:spPr>
          <a:xfrm>
            <a:off x="863798" y="1979652"/>
            <a:ext cx="12902803" cy="394811"/>
          </a:xfrm>
          <a:prstGeom prst="rect">
            <a:avLst/>
          </a:prstGeom>
          <a:noFill/>
          <a:ln/>
        </p:spPr>
        <p:txBody>
          <a:bodyPr wrap="none" lIns="0" tIns="0" rIns="0" bIns="0" rtlCol="0" anchor="t"/>
          <a:lstStyle/>
          <a:p>
            <a:pPr marL="342900" indent="-342900">
              <a:lnSpc>
                <a:spcPts val="3100"/>
              </a:lnSpc>
              <a:buSzPct val="100000"/>
              <a:buChar char="•"/>
            </a:pPr>
            <a:r>
              <a:rPr lang="en-US" sz="1900" b="1" dirty="0">
                <a:solidFill>
                  <a:srgbClr val="E2E6E9"/>
                </a:solidFill>
                <a:latin typeface="Merriweather" pitchFamily="34" charset="0"/>
                <a:ea typeface="Merriweather" pitchFamily="34" charset="-122"/>
                <a:cs typeface="Merriweather" pitchFamily="34" charset="-120"/>
              </a:rPr>
              <a:t>9. Reinforcement Learning Models (2023)</a:t>
            </a:r>
            <a:endParaRPr lang="en-US" sz="1900" dirty="0"/>
          </a:p>
        </p:txBody>
      </p:sp>
      <p:sp>
        <p:nvSpPr>
          <p:cNvPr id="4" name="Text 2"/>
          <p:cNvSpPr/>
          <p:nvPr/>
        </p:nvSpPr>
        <p:spPr>
          <a:xfrm>
            <a:off x="863798" y="2652117"/>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Uses policy optimization and multi-agent RL for self-improving detection. Generalizes well but is computationally expensive and requires complex reward function design.</a:t>
            </a:r>
            <a:endParaRPr lang="en-US" sz="1900" dirty="0"/>
          </a:p>
        </p:txBody>
      </p:sp>
      <p:sp>
        <p:nvSpPr>
          <p:cNvPr id="5" name="Text 3"/>
          <p:cNvSpPr/>
          <p:nvPr/>
        </p:nvSpPr>
        <p:spPr>
          <a:xfrm>
            <a:off x="863798" y="3719393"/>
            <a:ext cx="12902803" cy="394811"/>
          </a:xfrm>
          <a:prstGeom prst="rect">
            <a:avLst/>
          </a:prstGeom>
          <a:noFill/>
          <a:ln/>
        </p:spPr>
        <p:txBody>
          <a:bodyPr wrap="none" lIns="0" tIns="0" rIns="0" bIns="0" rtlCol="0" anchor="t"/>
          <a:lstStyle/>
          <a:p>
            <a:pPr marL="342900" indent="-342900">
              <a:lnSpc>
                <a:spcPts val="3100"/>
              </a:lnSpc>
              <a:buSzPct val="100000"/>
              <a:buChar char="•"/>
            </a:pPr>
            <a:r>
              <a:rPr lang="en-US" sz="1900" b="1" dirty="0">
                <a:solidFill>
                  <a:srgbClr val="E2E6E9"/>
                </a:solidFill>
                <a:latin typeface="Merriweather" pitchFamily="34" charset="0"/>
                <a:ea typeface="Merriweather" pitchFamily="34" charset="-122"/>
                <a:cs typeface="Merriweather" pitchFamily="34" charset="-120"/>
              </a:rPr>
              <a:t>10. Multi-Scale Feature Fusion (2021)</a:t>
            </a:r>
            <a:endParaRPr lang="en-US" sz="1900" dirty="0"/>
          </a:p>
        </p:txBody>
      </p:sp>
      <p:sp>
        <p:nvSpPr>
          <p:cNvPr id="6" name="Text 4"/>
          <p:cNvSpPr/>
          <p:nvPr/>
        </p:nvSpPr>
        <p:spPr>
          <a:xfrm>
            <a:off x="863798" y="4391858"/>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Combines high- and low-level features via FPN, skip connections, and attention. Improves small-object detection but increases computation and tuning complexity.</a:t>
            </a:r>
            <a:endParaRPr lang="en-US" sz="1900" dirty="0"/>
          </a:p>
        </p:txBody>
      </p:sp>
      <p:sp>
        <p:nvSpPr>
          <p:cNvPr id="7" name="Text 5"/>
          <p:cNvSpPr/>
          <p:nvPr/>
        </p:nvSpPr>
        <p:spPr>
          <a:xfrm>
            <a:off x="863798" y="5459135"/>
            <a:ext cx="12902803" cy="394811"/>
          </a:xfrm>
          <a:prstGeom prst="rect">
            <a:avLst/>
          </a:prstGeom>
          <a:noFill/>
          <a:ln/>
        </p:spPr>
        <p:txBody>
          <a:bodyPr wrap="none" lIns="0" tIns="0" rIns="0" bIns="0" rtlCol="0" anchor="t"/>
          <a:lstStyle/>
          <a:p>
            <a:pPr marL="342900" indent="-342900">
              <a:lnSpc>
                <a:spcPts val="3100"/>
              </a:lnSpc>
              <a:buSzPct val="100000"/>
              <a:buChar char="•"/>
            </a:pPr>
            <a:r>
              <a:rPr lang="en-US" sz="1900" b="1" dirty="0">
                <a:solidFill>
                  <a:srgbClr val="E2E6E9"/>
                </a:solidFill>
                <a:latin typeface="Merriweather" pitchFamily="34" charset="0"/>
                <a:ea typeface="Merriweather" pitchFamily="34" charset="-122"/>
                <a:cs typeface="Merriweather" pitchFamily="34" charset="-120"/>
              </a:rPr>
              <a:t>11. Hybrid AI Systems (2023)</a:t>
            </a:r>
            <a:endParaRPr lang="en-US" sz="1900" dirty="0"/>
          </a:p>
        </p:txBody>
      </p:sp>
      <p:sp>
        <p:nvSpPr>
          <p:cNvPr id="8" name="Text 6"/>
          <p:cNvSpPr/>
          <p:nvPr/>
        </p:nvSpPr>
        <p:spPr>
          <a:xfrm>
            <a:off x="863798" y="6131600"/>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Integrates deep learning with rule-based reasoning and multi-modal learning. Enhances adaptability but increases integration complexity, requiring careful system design.</a:t>
            </a:r>
            <a:endParaRPr lang="en-US" sz="1900" dirty="0"/>
          </a:p>
        </p:txBody>
      </p:sp>
      <p:sp>
        <p:nvSpPr>
          <p:cNvPr id="9" name="Text 7"/>
          <p:cNvSpPr/>
          <p:nvPr/>
        </p:nvSpPr>
        <p:spPr>
          <a:xfrm>
            <a:off x="863798" y="7198876"/>
            <a:ext cx="12902803" cy="315992"/>
          </a:xfrm>
          <a:prstGeom prst="rect">
            <a:avLst/>
          </a:prstGeom>
          <a:noFill/>
          <a:ln/>
        </p:spPr>
        <p:txBody>
          <a:bodyPr wrap="none" lIns="0" tIns="0" rIns="0" bIns="0" rtlCol="0" anchor="t"/>
          <a:lstStyle/>
          <a:p>
            <a:pPr marL="0" indent="0">
              <a:lnSpc>
                <a:spcPts val="2450"/>
              </a:lnSpc>
              <a:buNone/>
            </a:pPr>
            <a:r>
              <a:rPr lang="en-US" sz="1550" i="1" u="sng" dirty="0">
                <a:solidFill>
                  <a:srgbClr val="E2E6E9"/>
                </a:solidFill>
                <a:latin typeface="Merriweather" pitchFamily="34" charset="0"/>
                <a:ea typeface="Merriweather" pitchFamily="34" charset="-122"/>
                <a:cs typeface="Merriweather" pitchFamily="34" charset="-120"/>
              </a:rPr>
              <a:t>(Better details of each with source mentioned in the document )</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63798" y="1051798"/>
            <a:ext cx="12902803" cy="1233964"/>
          </a:xfrm>
          <a:prstGeom prst="rect">
            <a:avLst/>
          </a:prstGeom>
          <a:noFill/>
          <a:ln/>
        </p:spPr>
        <p:txBody>
          <a:bodyPr wrap="square" lIns="0" tIns="0" rIns="0" bIns="0" rtlCol="0" anchor="t"/>
          <a:lstStyle/>
          <a:p>
            <a:pPr marL="0" indent="0">
              <a:lnSpc>
                <a:spcPts val="4850"/>
              </a:lnSpc>
              <a:buNone/>
            </a:pPr>
            <a:r>
              <a:rPr lang="en-US" sz="3850" i="1" u="sng" dirty="0">
                <a:solidFill>
                  <a:srgbClr val="F5F0F0"/>
                </a:solidFill>
                <a:latin typeface="Merriweather" pitchFamily="34" charset="0"/>
                <a:ea typeface="Merriweather" pitchFamily="34" charset="-122"/>
                <a:cs typeface="Merriweather" pitchFamily="34" charset="-120"/>
              </a:rPr>
              <a:t>Various different frameworks under Multi Agent reinforcement learning</a:t>
            </a:r>
            <a:endParaRPr lang="en-US" sz="3850" dirty="0"/>
          </a:p>
        </p:txBody>
      </p:sp>
      <p:sp>
        <p:nvSpPr>
          <p:cNvPr id="3" name="Text 1"/>
          <p:cNvSpPr/>
          <p:nvPr/>
        </p:nvSpPr>
        <p:spPr>
          <a:xfrm>
            <a:off x="863798" y="2785467"/>
            <a:ext cx="3898940" cy="789622"/>
          </a:xfrm>
          <a:prstGeom prst="rect">
            <a:avLst/>
          </a:prstGeom>
          <a:noFill/>
          <a:ln/>
        </p:spPr>
        <p:txBody>
          <a:bodyPr wrap="square" lIns="0" tIns="0" rIns="0" bIns="0" rtlCol="0" anchor="t"/>
          <a:lstStyle/>
          <a:p>
            <a:pPr marL="0" indent="0">
              <a:lnSpc>
                <a:spcPts val="3100"/>
              </a:lnSpc>
              <a:buNone/>
            </a:pPr>
            <a:r>
              <a:rPr lang="en-US" sz="1900" b="1" dirty="0">
                <a:solidFill>
                  <a:srgbClr val="E2E6E9"/>
                </a:solidFill>
                <a:latin typeface="Merriweather" pitchFamily="34" charset="0"/>
                <a:ea typeface="Merriweather" pitchFamily="34" charset="-122"/>
                <a:cs typeface="Merriweather" pitchFamily="34" charset="-120"/>
              </a:rPr>
              <a:t>1. Independent Q-Learning (IQL) in Object Detection</a:t>
            </a:r>
            <a:endParaRPr lang="en-US" sz="1900" dirty="0"/>
          </a:p>
        </p:txBody>
      </p:sp>
      <p:sp>
        <p:nvSpPr>
          <p:cNvPr id="4" name="Text 2"/>
          <p:cNvSpPr/>
          <p:nvPr/>
        </p:nvSpPr>
        <p:spPr>
          <a:xfrm>
            <a:off x="863798" y="3797141"/>
            <a:ext cx="3898940" cy="2763679"/>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Each agent independently optimizes its Q-function without coordination, reducing computational cost. Used in YOLOv5 for distributed cameras and SSD for drone-based monitoring.</a:t>
            </a:r>
            <a:endParaRPr lang="en-US" sz="1900" dirty="0"/>
          </a:p>
        </p:txBody>
      </p:sp>
      <p:sp>
        <p:nvSpPr>
          <p:cNvPr id="5" name="Text 3"/>
          <p:cNvSpPr/>
          <p:nvPr/>
        </p:nvSpPr>
        <p:spPr>
          <a:xfrm>
            <a:off x="5372576" y="2785467"/>
            <a:ext cx="3898940" cy="1184434"/>
          </a:xfrm>
          <a:prstGeom prst="rect">
            <a:avLst/>
          </a:prstGeom>
          <a:noFill/>
          <a:ln/>
        </p:spPr>
        <p:txBody>
          <a:bodyPr wrap="square" lIns="0" tIns="0" rIns="0" bIns="0" rtlCol="0" anchor="t"/>
          <a:lstStyle/>
          <a:p>
            <a:pPr marL="0" indent="0">
              <a:lnSpc>
                <a:spcPts val="3100"/>
              </a:lnSpc>
              <a:buNone/>
            </a:pPr>
            <a:r>
              <a:rPr lang="en-US" sz="1900" b="1" dirty="0">
                <a:solidFill>
                  <a:srgbClr val="E2E6E9"/>
                </a:solidFill>
                <a:latin typeface="Merriweather" pitchFamily="34" charset="0"/>
                <a:ea typeface="Merriweather" pitchFamily="34" charset="-122"/>
                <a:cs typeface="Merriweather" pitchFamily="34" charset="-120"/>
              </a:rPr>
              <a:t>2. Centralized Training with Decentralized Execution (CTDE) in Object Detection</a:t>
            </a:r>
            <a:endParaRPr lang="en-US" sz="1900" dirty="0"/>
          </a:p>
        </p:txBody>
      </p:sp>
      <p:sp>
        <p:nvSpPr>
          <p:cNvPr id="6" name="Text 4"/>
          <p:cNvSpPr/>
          <p:nvPr/>
        </p:nvSpPr>
        <p:spPr>
          <a:xfrm>
            <a:off x="5372576" y="4191953"/>
            <a:ext cx="3898940" cy="2763679"/>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Agents train with global information but execute independently. Applied in Faster R-CNN for autonomous vehicle detection and DeepSORT for multi-camera tracking.</a:t>
            </a:r>
            <a:endParaRPr lang="en-US" sz="1900" dirty="0"/>
          </a:p>
        </p:txBody>
      </p:sp>
      <p:sp>
        <p:nvSpPr>
          <p:cNvPr id="7" name="Text 5"/>
          <p:cNvSpPr/>
          <p:nvPr/>
        </p:nvSpPr>
        <p:spPr>
          <a:xfrm>
            <a:off x="9881354" y="2785467"/>
            <a:ext cx="3898940" cy="1184434"/>
          </a:xfrm>
          <a:prstGeom prst="rect">
            <a:avLst/>
          </a:prstGeom>
          <a:noFill/>
          <a:ln/>
        </p:spPr>
        <p:txBody>
          <a:bodyPr wrap="square" lIns="0" tIns="0" rIns="0" bIns="0" rtlCol="0" anchor="t"/>
          <a:lstStyle/>
          <a:p>
            <a:pPr marL="0" indent="0">
              <a:lnSpc>
                <a:spcPts val="3100"/>
              </a:lnSpc>
              <a:buNone/>
            </a:pPr>
            <a:r>
              <a:rPr lang="en-US" sz="1900" b="1" dirty="0">
                <a:solidFill>
                  <a:srgbClr val="E2E6E9"/>
                </a:solidFill>
                <a:latin typeface="Merriweather" pitchFamily="34" charset="0"/>
                <a:ea typeface="Merriweather" pitchFamily="34" charset="-122"/>
                <a:cs typeface="Merriweather" pitchFamily="34" charset="-120"/>
              </a:rPr>
              <a:t>3. Multi-Agent Deep Deterministic Policy Gradient (MADDPG) in Object Detection</a:t>
            </a:r>
            <a:endParaRPr lang="en-US" sz="1900" dirty="0"/>
          </a:p>
        </p:txBody>
      </p:sp>
      <p:sp>
        <p:nvSpPr>
          <p:cNvPr id="8" name="Text 6"/>
          <p:cNvSpPr/>
          <p:nvPr/>
        </p:nvSpPr>
        <p:spPr>
          <a:xfrm>
            <a:off x="9881354" y="4191953"/>
            <a:ext cx="3898940" cy="2368868"/>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Combines centralized critics with decentralized actors for dynamic tracking. Used in RL-based urban surveillance and TensorRT-optimized autonomous drones.</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63798" y="2026563"/>
            <a:ext cx="6170771" cy="771287"/>
          </a:xfrm>
          <a:prstGeom prst="rect">
            <a:avLst/>
          </a:prstGeom>
          <a:noFill/>
          <a:ln/>
        </p:spPr>
        <p:txBody>
          <a:bodyPr wrap="none" lIns="0" tIns="0" rIns="0" bIns="0" rtlCol="0" anchor="t"/>
          <a:lstStyle/>
          <a:p>
            <a:pPr marL="0" indent="0">
              <a:lnSpc>
                <a:spcPts val="6050"/>
              </a:lnSpc>
              <a:buNone/>
            </a:pPr>
            <a:endParaRPr lang="en-US" sz="4850" dirty="0"/>
          </a:p>
        </p:txBody>
      </p:sp>
      <p:sp>
        <p:nvSpPr>
          <p:cNvPr id="3" name="Text 1"/>
          <p:cNvSpPr/>
          <p:nvPr/>
        </p:nvSpPr>
        <p:spPr>
          <a:xfrm>
            <a:off x="863798" y="3390067"/>
            <a:ext cx="6150293" cy="789622"/>
          </a:xfrm>
          <a:prstGeom prst="rect">
            <a:avLst/>
          </a:prstGeom>
          <a:noFill/>
          <a:ln/>
        </p:spPr>
        <p:txBody>
          <a:bodyPr wrap="square" lIns="0" tIns="0" rIns="0" bIns="0" rtlCol="0" anchor="t"/>
          <a:lstStyle/>
          <a:p>
            <a:pPr marL="0" indent="0">
              <a:lnSpc>
                <a:spcPts val="3100"/>
              </a:lnSpc>
              <a:buNone/>
            </a:pPr>
            <a:r>
              <a:rPr lang="en-US" sz="1900" b="1" dirty="0">
                <a:solidFill>
                  <a:srgbClr val="E2E6E9"/>
                </a:solidFill>
                <a:latin typeface="Merriweather" pitchFamily="34" charset="0"/>
                <a:ea typeface="Merriweather" pitchFamily="34" charset="-122"/>
                <a:cs typeface="Merriweather" pitchFamily="34" charset="-120"/>
              </a:rPr>
              <a:t>4. Mean Field Reinforcement Learning in Object Detection</a:t>
            </a:r>
            <a:endParaRPr lang="en-US" sz="1900" dirty="0"/>
          </a:p>
        </p:txBody>
      </p:sp>
      <p:sp>
        <p:nvSpPr>
          <p:cNvPr id="4" name="Text 2"/>
          <p:cNvSpPr/>
          <p:nvPr/>
        </p:nvSpPr>
        <p:spPr>
          <a:xfrm>
            <a:off x="863798" y="4401741"/>
            <a:ext cx="6150293" cy="1579245"/>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Approximates interactions using a mean-field approach for scalability. Applied in DeepSORT for crowd tracking and Hybrid AI Systems for collaborative robotics.</a:t>
            </a:r>
            <a:endParaRPr lang="en-US" sz="1900" dirty="0"/>
          </a:p>
        </p:txBody>
      </p:sp>
      <p:sp>
        <p:nvSpPr>
          <p:cNvPr id="5" name="Text 3"/>
          <p:cNvSpPr/>
          <p:nvPr/>
        </p:nvSpPr>
        <p:spPr>
          <a:xfrm>
            <a:off x="7623929" y="3390067"/>
            <a:ext cx="6150293" cy="789622"/>
          </a:xfrm>
          <a:prstGeom prst="rect">
            <a:avLst/>
          </a:prstGeom>
          <a:noFill/>
          <a:ln/>
        </p:spPr>
        <p:txBody>
          <a:bodyPr wrap="square" lIns="0" tIns="0" rIns="0" bIns="0" rtlCol="0" anchor="t"/>
          <a:lstStyle/>
          <a:p>
            <a:pPr marL="0" indent="0">
              <a:lnSpc>
                <a:spcPts val="3100"/>
              </a:lnSpc>
              <a:buNone/>
            </a:pPr>
            <a:r>
              <a:rPr lang="en-US" sz="1900" b="1" dirty="0">
                <a:solidFill>
                  <a:srgbClr val="E2E6E9"/>
                </a:solidFill>
                <a:latin typeface="Merriweather" pitchFamily="34" charset="0"/>
                <a:ea typeface="Merriweather" pitchFamily="34" charset="-122"/>
                <a:cs typeface="Merriweather" pitchFamily="34" charset="-120"/>
              </a:rPr>
              <a:t>5. Value Decomposition Networks (VDN) and QMIX in Object Detection</a:t>
            </a:r>
            <a:endParaRPr lang="en-US" sz="1900" dirty="0"/>
          </a:p>
        </p:txBody>
      </p:sp>
      <p:sp>
        <p:nvSpPr>
          <p:cNvPr id="6" name="Text 4"/>
          <p:cNvSpPr/>
          <p:nvPr/>
        </p:nvSpPr>
        <p:spPr>
          <a:xfrm>
            <a:off x="7623929" y="4401741"/>
            <a:ext cx="6150293" cy="1579245"/>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Decomposes global rewards for cooperative learning. Used in warehouse robotics for collaborative scanning and YOLOv5 for distributed agricultural drone monitoring.</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63798" y="801886"/>
            <a:ext cx="12902803" cy="1233964"/>
          </a:xfrm>
          <a:prstGeom prst="rect">
            <a:avLst/>
          </a:prstGeom>
          <a:noFill/>
          <a:ln/>
        </p:spPr>
        <p:txBody>
          <a:bodyPr wrap="square" lIns="0" tIns="0" rIns="0" bIns="0" rtlCol="0" anchor="t"/>
          <a:lstStyle/>
          <a:p>
            <a:pPr marL="0" indent="0">
              <a:lnSpc>
                <a:spcPts val="4850"/>
              </a:lnSpc>
              <a:buNone/>
            </a:pPr>
            <a:r>
              <a:rPr lang="en-US" sz="3850" i="1" u="sng" dirty="0">
                <a:solidFill>
                  <a:srgbClr val="F5F0F0"/>
                </a:solidFill>
                <a:latin typeface="Merriweather" pitchFamily="34" charset="0"/>
                <a:ea typeface="Merriweather" pitchFamily="34" charset="-122"/>
                <a:cs typeface="Merriweather" pitchFamily="34" charset="-120"/>
              </a:rPr>
              <a:t>Some case studies to prove the efficiency of the MARL Frameworks</a:t>
            </a:r>
            <a:endParaRPr lang="en-US" sz="3850" dirty="0"/>
          </a:p>
        </p:txBody>
      </p:sp>
      <p:sp>
        <p:nvSpPr>
          <p:cNvPr id="3" name="Text 1"/>
          <p:cNvSpPr/>
          <p:nvPr/>
        </p:nvSpPr>
        <p:spPr>
          <a:xfrm>
            <a:off x="863798" y="2529483"/>
            <a:ext cx="12902803" cy="1579245"/>
          </a:xfrm>
          <a:prstGeom prst="rect">
            <a:avLst/>
          </a:prstGeom>
          <a:noFill/>
          <a:ln/>
        </p:spPr>
        <p:txBody>
          <a:bodyPr wrap="squar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1.MARL for Autonomous Driving (Waymo &amp; Tesla AI Labs) CTDE-trained self-driving cars detect objects in real time, improving pedestrian recognition by 17%. MADDPG refines vehicle movement. Challenges include high computational costs and V2X reliance. Results: faster decision-making, fewer falses and improved detection under variable lighting.</a:t>
            </a:r>
            <a:endParaRPr lang="en-US" sz="1900" dirty="0"/>
          </a:p>
        </p:txBody>
      </p:sp>
      <p:sp>
        <p:nvSpPr>
          <p:cNvPr id="4" name="Text 2"/>
          <p:cNvSpPr/>
          <p:nvPr/>
        </p:nvSpPr>
        <p:spPr>
          <a:xfrm>
            <a:off x="863798" y="4386382"/>
            <a:ext cx="12902803" cy="1579245"/>
          </a:xfrm>
          <a:prstGeom prst="rect">
            <a:avLst/>
          </a:prstGeom>
          <a:noFill/>
          <a:ln/>
        </p:spPr>
        <p:txBody>
          <a:bodyPr wrap="squar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2.MARL in Aerial Object Detection (IBM Research) Multi-drone surveillance using YOLOv5 and Mean Field RL enhances urban monitoring, improving accuracy by 27%. IQL supports independent decisions. Benefits: longer drone flights, faster emergency responses. Challenges: weather limitations and battery life.</a:t>
            </a:r>
            <a:endParaRPr lang="en-US" sz="1900" dirty="0"/>
          </a:p>
        </p:txBody>
      </p:sp>
      <p:sp>
        <p:nvSpPr>
          <p:cNvPr id="5" name="Text 3"/>
          <p:cNvSpPr/>
          <p:nvPr/>
        </p:nvSpPr>
        <p:spPr>
          <a:xfrm>
            <a:off x="863798" y="6243280"/>
            <a:ext cx="12902803"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3.MARL for Crowd Behavior Analysis (MIT &amp; Stanford) CTDE and Mean Field RL improve tracking in crowded areas, reducing false alarms by 31% and enhancing occluded object detection by 22%. Challenges include high-bandwidth requirements and privacy concerns.</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63798" y="952976"/>
            <a:ext cx="6170771" cy="771287"/>
          </a:xfrm>
          <a:prstGeom prst="rect">
            <a:avLst/>
          </a:prstGeom>
          <a:noFill/>
          <a:ln/>
        </p:spPr>
        <p:txBody>
          <a:bodyPr wrap="none" lIns="0" tIns="0" rIns="0" bIns="0" rtlCol="0" anchor="t"/>
          <a:lstStyle/>
          <a:p>
            <a:pPr marL="0" indent="0">
              <a:lnSpc>
                <a:spcPts val="6050"/>
              </a:lnSpc>
              <a:buNone/>
            </a:pPr>
            <a:endParaRPr lang="en-US" sz="4850" dirty="0"/>
          </a:p>
        </p:txBody>
      </p:sp>
      <p:sp>
        <p:nvSpPr>
          <p:cNvPr id="3" name="Text 1"/>
          <p:cNvSpPr/>
          <p:nvPr/>
        </p:nvSpPr>
        <p:spPr>
          <a:xfrm>
            <a:off x="863798" y="2217896"/>
            <a:ext cx="12902803" cy="1184434"/>
          </a:xfrm>
          <a:prstGeom prst="rect">
            <a:avLst/>
          </a:prstGeom>
          <a:noFill/>
          <a:ln/>
        </p:spPr>
        <p:txBody>
          <a:bodyPr wrap="squar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4. MARL in Healthcare (Mayo Clinic AI Lab) VDN and QMIX optimize AI collaboration in medical anomaly detection, reducing errors by 24% and accelerating brain hemorrhage identification. Ethical concerns and dataset needs remain key challenges.</a:t>
            </a:r>
            <a:endParaRPr lang="en-US" sz="1900" dirty="0"/>
          </a:p>
        </p:txBody>
      </p:sp>
      <p:sp>
        <p:nvSpPr>
          <p:cNvPr id="4" name="Text 2"/>
          <p:cNvSpPr/>
          <p:nvPr/>
        </p:nvSpPr>
        <p:spPr>
          <a:xfrm>
            <a:off x="863798" y="3679984"/>
            <a:ext cx="12902803" cy="394811"/>
          </a:xfrm>
          <a:prstGeom prst="rect">
            <a:avLst/>
          </a:prstGeom>
          <a:noFill/>
          <a:ln/>
        </p:spPr>
        <p:txBody>
          <a:bodyPr wrap="none" lIns="0" tIns="0" rIns="0" bIns="0" rtlCol="0" anchor="t"/>
          <a:lstStyle/>
          <a:p>
            <a:pPr marL="0" indent="0" algn="l">
              <a:lnSpc>
                <a:spcPts val="3100"/>
              </a:lnSpc>
              <a:buNone/>
            </a:pPr>
            <a:endParaRPr lang="en-US" sz="1900" dirty="0"/>
          </a:p>
        </p:txBody>
      </p:sp>
      <p:sp>
        <p:nvSpPr>
          <p:cNvPr id="5" name="Text 3"/>
          <p:cNvSpPr/>
          <p:nvPr/>
        </p:nvSpPr>
        <p:spPr>
          <a:xfrm>
            <a:off x="863798" y="4352449"/>
            <a:ext cx="12902803"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5.MARL in Defense &amp; Border Surveillance (DARPA &amp; U.S. Military) MADDPG and DeepSORT-powered drones improve border security, boosting detection by 45% and cutting response time by 30%. Challenges: secure communications and adverse weather effects.</a:t>
            </a:r>
            <a:endParaRPr lang="en-US" sz="1900" dirty="0"/>
          </a:p>
        </p:txBody>
      </p:sp>
      <p:sp>
        <p:nvSpPr>
          <p:cNvPr id="6" name="Text 4"/>
          <p:cNvSpPr/>
          <p:nvPr/>
        </p:nvSpPr>
        <p:spPr>
          <a:xfrm>
            <a:off x="863798" y="5814536"/>
            <a:ext cx="12902803" cy="394811"/>
          </a:xfrm>
          <a:prstGeom prst="rect">
            <a:avLst/>
          </a:prstGeom>
          <a:noFill/>
          <a:ln/>
        </p:spPr>
        <p:txBody>
          <a:bodyPr wrap="none" lIns="0" tIns="0" rIns="0" bIns="0" rtlCol="0" anchor="t"/>
          <a:lstStyle/>
          <a:p>
            <a:pPr marL="0" indent="0" algn="l">
              <a:lnSpc>
                <a:spcPts val="3100"/>
              </a:lnSpc>
              <a:buNone/>
            </a:pPr>
            <a:endParaRPr lang="en-US" sz="1900" dirty="0"/>
          </a:p>
        </p:txBody>
      </p:sp>
      <p:sp>
        <p:nvSpPr>
          <p:cNvPr id="7" name="Text 5"/>
          <p:cNvSpPr/>
          <p:nvPr/>
        </p:nvSpPr>
        <p:spPr>
          <a:xfrm>
            <a:off x="863798" y="6487001"/>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6.MARL in Agriculture (John Deere &amp; DeepMind) VDN and QMIX coordinate harvesting robots, increasing yield by 32% and reducing pesticide use by 27%. Challenges: weather constraints and sensor calibration.</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63798" y="2020253"/>
            <a:ext cx="6170771" cy="771287"/>
          </a:xfrm>
          <a:prstGeom prst="rect">
            <a:avLst/>
          </a:prstGeom>
          <a:noFill/>
          <a:ln/>
        </p:spPr>
        <p:txBody>
          <a:bodyPr wrap="none" lIns="0" tIns="0" rIns="0" bIns="0" rtlCol="0" anchor="t"/>
          <a:lstStyle/>
          <a:p>
            <a:pPr marL="0" indent="0">
              <a:lnSpc>
                <a:spcPts val="6050"/>
              </a:lnSpc>
              <a:buNone/>
            </a:pPr>
            <a:endParaRPr lang="en-US" sz="4850" dirty="0"/>
          </a:p>
        </p:txBody>
      </p:sp>
      <p:sp>
        <p:nvSpPr>
          <p:cNvPr id="3" name="Text 1"/>
          <p:cNvSpPr/>
          <p:nvPr/>
        </p:nvSpPr>
        <p:spPr>
          <a:xfrm>
            <a:off x="863798" y="3285173"/>
            <a:ext cx="12902803" cy="1184434"/>
          </a:xfrm>
          <a:prstGeom prst="rect">
            <a:avLst/>
          </a:prstGeom>
          <a:noFill/>
          <a:ln/>
        </p:spPr>
        <p:txBody>
          <a:bodyPr wrap="squar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7.MARL in Disaster Response (NASA JPL &amp; MIT AI Lab) MADDPG and CTDE enable faster survivor detection (29%) and improve damage assessment (38%). Terrain difficulties and communication failures challenge rescue efficiency. </a:t>
            </a:r>
            <a:endParaRPr lang="en-US" sz="1900" dirty="0"/>
          </a:p>
        </p:txBody>
      </p:sp>
      <p:sp>
        <p:nvSpPr>
          <p:cNvPr id="4" name="Text 2"/>
          <p:cNvSpPr/>
          <p:nvPr/>
        </p:nvSpPr>
        <p:spPr>
          <a:xfrm>
            <a:off x="863798" y="4747260"/>
            <a:ext cx="12902803" cy="394811"/>
          </a:xfrm>
          <a:prstGeom prst="rect">
            <a:avLst/>
          </a:prstGeom>
          <a:noFill/>
          <a:ln/>
        </p:spPr>
        <p:txBody>
          <a:bodyPr wrap="none" lIns="0" tIns="0" rIns="0" bIns="0" rtlCol="0" anchor="t"/>
          <a:lstStyle/>
          <a:p>
            <a:pPr marL="0" indent="0">
              <a:lnSpc>
                <a:spcPts val="3100"/>
              </a:lnSpc>
              <a:buNone/>
            </a:pPr>
            <a:endParaRPr lang="en-US" sz="1900" dirty="0"/>
          </a:p>
        </p:txBody>
      </p:sp>
      <p:sp>
        <p:nvSpPr>
          <p:cNvPr id="5" name="Text 3"/>
          <p:cNvSpPr/>
          <p:nvPr/>
        </p:nvSpPr>
        <p:spPr>
          <a:xfrm>
            <a:off x="863798" y="5419725"/>
            <a:ext cx="12902803" cy="789622"/>
          </a:xfrm>
          <a:prstGeom prst="rect">
            <a:avLst/>
          </a:prstGeom>
          <a:noFill/>
          <a:ln/>
        </p:spPr>
        <p:txBody>
          <a:bodyPr wrap="squar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8.MARL in Wildlife Conservation (WWF &amp; Microsoft AI for Earth) CTDE and DeepSORT drones reduce poaching by 50%, cutting patrol workload by 60%. Challenges: battery life and signal jamming threats.</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63798" y="1542217"/>
            <a:ext cx="6365915" cy="616982"/>
          </a:xfrm>
          <a:prstGeom prst="rect">
            <a:avLst/>
          </a:prstGeom>
          <a:noFill/>
          <a:ln/>
        </p:spPr>
        <p:txBody>
          <a:bodyPr wrap="none" lIns="0" tIns="0" rIns="0" bIns="0" rtlCol="0" anchor="t"/>
          <a:lstStyle/>
          <a:p>
            <a:pPr marL="0" indent="0">
              <a:lnSpc>
                <a:spcPts val="4850"/>
              </a:lnSpc>
              <a:buNone/>
            </a:pPr>
            <a:r>
              <a:rPr lang="en-US" sz="3850" i="1" u="sng" dirty="0">
                <a:solidFill>
                  <a:srgbClr val="F5F0F0"/>
                </a:solidFill>
                <a:latin typeface="Merriweather" pitchFamily="34" charset="0"/>
                <a:ea typeface="Merriweather" pitchFamily="34" charset="-122"/>
                <a:cs typeface="Merriweather" pitchFamily="34" charset="-120"/>
              </a:rPr>
              <a:t>Future of Object Detection</a:t>
            </a:r>
            <a:endParaRPr lang="en-US" sz="3850" dirty="0"/>
          </a:p>
        </p:txBody>
      </p:sp>
      <p:sp>
        <p:nvSpPr>
          <p:cNvPr id="3" name="Text 1"/>
          <p:cNvSpPr/>
          <p:nvPr/>
        </p:nvSpPr>
        <p:spPr>
          <a:xfrm>
            <a:off x="863798" y="2652832"/>
            <a:ext cx="12902803" cy="1974056"/>
          </a:xfrm>
          <a:prstGeom prst="rect">
            <a:avLst/>
          </a:prstGeom>
          <a:noFill/>
          <a:ln/>
        </p:spPr>
        <p:txBody>
          <a:bodyPr wrap="square" lIns="0" tIns="0" rIns="0" bIns="0" rtlCol="0" anchor="t"/>
          <a:lstStyle/>
          <a:p>
            <a:pPr marL="342900" indent="-342900">
              <a:lnSpc>
                <a:spcPts val="3100"/>
              </a:lnSpc>
              <a:buSzPct val="100000"/>
              <a:buChar char="•"/>
            </a:pPr>
            <a:r>
              <a:rPr lang="en-US" sz="1900" dirty="0">
                <a:solidFill>
                  <a:srgbClr val="E2E6E9"/>
                </a:solidFill>
                <a:latin typeface="Merriweather" pitchFamily="34" charset="0"/>
                <a:ea typeface="Merriweather" pitchFamily="34" charset="-122"/>
                <a:cs typeface="Merriweather" pitchFamily="34" charset="-120"/>
              </a:rPr>
              <a:t>The future of object detection in MARL systems is evolving with cutting-edge advancements. Continual Learning (CL) enables AI to adapt to new objects and environments without forgetting past knowledge. This is particularly crucial for dynamic settings like smart traffic management, where surveillance systems must adjust to new vehicle models, road layouts, and pedestrian behaviors without requiring complete retraining.</a:t>
            </a:r>
            <a:endParaRPr lang="en-US" sz="1900" dirty="0"/>
          </a:p>
        </p:txBody>
      </p:sp>
      <p:sp>
        <p:nvSpPr>
          <p:cNvPr id="4" name="Text 2"/>
          <p:cNvSpPr/>
          <p:nvPr/>
        </p:nvSpPr>
        <p:spPr>
          <a:xfrm>
            <a:off x="863798" y="4713208"/>
            <a:ext cx="12902803" cy="1974056"/>
          </a:xfrm>
          <a:prstGeom prst="rect">
            <a:avLst/>
          </a:prstGeom>
          <a:noFill/>
          <a:ln/>
        </p:spPr>
        <p:txBody>
          <a:bodyPr wrap="square" lIns="0" tIns="0" rIns="0" bIns="0" rtlCol="0" anchor="t"/>
          <a:lstStyle/>
          <a:p>
            <a:pPr marL="342900" indent="-342900">
              <a:lnSpc>
                <a:spcPts val="3100"/>
              </a:lnSpc>
              <a:buSzPct val="100000"/>
              <a:buChar char="•"/>
            </a:pPr>
            <a:r>
              <a:rPr lang="en-US" sz="1900" dirty="0">
                <a:solidFill>
                  <a:srgbClr val="E2E6E9"/>
                </a:solidFill>
                <a:latin typeface="Merriweather" pitchFamily="34" charset="0"/>
                <a:ea typeface="Merriweather" pitchFamily="34" charset="-122"/>
                <a:cs typeface="Merriweather" pitchFamily="34" charset="-120"/>
              </a:rPr>
              <a:t>Hypergraph Neural Networks (HGNNs) improve multi-view object detection by capturing complex relationships among agents and objects. This enhances the coordination of autonomous vehicles and drone swarms, leading to more accurate and robust object detection from diverse perspectives. However, computational demands remain a challenge, necessitating hardware-optimized implementations.</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63798" y="1224558"/>
            <a:ext cx="6170771" cy="771287"/>
          </a:xfrm>
          <a:prstGeom prst="rect">
            <a:avLst/>
          </a:prstGeom>
          <a:noFill/>
          <a:ln/>
        </p:spPr>
        <p:txBody>
          <a:bodyPr wrap="none" lIns="0" tIns="0" rIns="0" bIns="0" rtlCol="0" anchor="t"/>
          <a:lstStyle/>
          <a:p>
            <a:pPr marL="0" indent="0">
              <a:lnSpc>
                <a:spcPts val="6050"/>
              </a:lnSpc>
              <a:buNone/>
            </a:pPr>
            <a:endParaRPr lang="en-US" sz="4850" dirty="0"/>
          </a:p>
        </p:txBody>
      </p:sp>
      <p:sp>
        <p:nvSpPr>
          <p:cNvPr id="3" name="Text 1"/>
          <p:cNvSpPr/>
          <p:nvPr/>
        </p:nvSpPr>
        <p:spPr>
          <a:xfrm>
            <a:off x="863798" y="2489478"/>
            <a:ext cx="12902803" cy="1579245"/>
          </a:xfrm>
          <a:prstGeom prst="rect">
            <a:avLst/>
          </a:prstGeom>
          <a:noFill/>
          <a:ln/>
        </p:spPr>
        <p:txBody>
          <a:bodyPr wrap="square" lIns="0" tIns="0" rIns="0" bIns="0" rtlCol="0" anchor="t"/>
          <a:lstStyle/>
          <a:p>
            <a:pPr marL="342900" indent="-342900">
              <a:lnSpc>
                <a:spcPts val="3100"/>
              </a:lnSpc>
              <a:buSzPct val="100000"/>
              <a:buChar char="•"/>
            </a:pPr>
            <a:r>
              <a:rPr lang="en-US" sz="1900" dirty="0">
                <a:solidFill>
                  <a:srgbClr val="E2E6E9"/>
                </a:solidFill>
                <a:latin typeface="Merriweather" pitchFamily="34" charset="0"/>
                <a:ea typeface="Merriweather" pitchFamily="34" charset="-122"/>
                <a:cs typeface="Merriweather" pitchFamily="34" charset="-120"/>
              </a:rPr>
              <a:t>Adversarial Multi-Agent Learning strengthens resilience against occlusions and deceptive tactics by introducing competitive dynamics between detection agents and adversarial entities. This is essential for security and surveillance applications, where systems must detect concealed or disguised objects. Implementing self-regulating frameworks ensures stable learning and continuous improvement.  </a:t>
            </a:r>
            <a:endParaRPr lang="en-US" sz="1900" dirty="0"/>
          </a:p>
        </p:txBody>
      </p:sp>
      <p:sp>
        <p:nvSpPr>
          <p:cNvPr id="4" name="Text 2"/>
          <p:cNvSpPr/>
          <p:nvPr/>
        </p:nvSpPr>
        <p:spPr>
          <a:xfrm>
            <a:off x="863798" y="4155043"/>
            <a:ext cx="12902803" cy="1974056"/>
          </a:xfrm>
          <a:prstGeom prst="rect">
            <a:avLst/>
          </a:prstGeom>
          <a:noFill/>
          <a:ln/>
        </p:spPr>
        <p:txBody>
          <a:bodyPr wrap="square" lIns="0" tIns="0" rIns="0" bIns="0" rtlCol="0" anchor="t"/>
          <a:lstStyle/>
          <a:p>
            <a:pPr marL="342900" indent="-342900">
              <a:lnSpc>
                <a:spcPts val="3100"/>
              </a:lnSpc>
              <a:buSzPct val="100000"/>
              <a:buChar char="•"/>
            </a:pPr>
            <a:r>
              <a:rPr lang="en-US" sz="1900" dirty="0">
                <a:solidFill>
                  <a:srgbClr val="E2E6E9"/>
                </a:solidFill>
                <a:latin typeface="Merriweather" pitchFamily="34" charset="0"/>
                <a:ea typeface="Merriweather" pitchFamily="34" charset="-122"/>
                <a:cs typeface="Merriweather" pitchFamily="34" charset="-120"/>
              </a:rPr>
              <a:t>Neuromorphic Computing offers energy-efficient, real-time object detection using spiking neural networks (SNNs). This technology benefits disaster response robots and drones by extending operational durations and enabling faster, event-driven detection of survivors. However, integrating MARL algorithms with the asynchronous nature of SNNs requires innovative architectural adjustments.</a:t>
            </a:r>
            <a:endParaRPr lang="en-US" sz="1900" dirty="0"/>
          </a:p>
        </p:txBody>
      </p:sp>
      <p:sp>
        <p:nvSpPr>
          <p:cNvPr id="5" name="Text 3"/>
          <p:cNvSpPr/>
          <p:nvPr/>
        </p:nvSpPr>
        <p:spPr>
          <a:xfrm>
            <a:off x="863798" y="6215420"/>
            <a:ext cx="12902803" cy="789622"/>
          </a:xfrm>
          <a:prstGeom prst="rect">
            <a:avLst/>
          </a:prstGeom>
          <a:noFill/>
          <a:ln/>
        </p:spPr>
        <p:txBody>
          <a:bodyPr wrap="square" lIns="0" tIns="0" rIns="0" bIns="0" rtlCol="0" anchor="t"/>
          <a:lstStyle/>
          <a:p>
            <a:pPr marL="342900" indent="-342900">
              <a:lnSpc>
                <a:spcPts val="3100"/>
              </a:lnSpc>
              <a:buSzPct val="100000"/>
              <a:buChar char="•"/>
            </a:pPr>
            <a:r>
              <a:rPr lang="en-US" sz="1900" dirty="0">
                <a:solidFill>
                  <a:srgbClr val="E2E6E9"/>
                </a:solidFill>
                <a:latin typeface="Merriweather" pitchFamily="34" charset="0"/>
                <a:ea typeface="Merriweather" pitchFamily="34" charset="-122"/>
                <a:cs typeface="Merriweather" pitchFamily="34" charset="-120"/>
              </a:rPr>
              <a:t>These innovations collectively enhance adaptability, robustness, and efficiency in multi-agent object detection, paving the way for more intelligent and resilient AI systems.</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63798" y="1508284"/>
            <a:ext cx="6170771" cy="771287"/>
          </a:xfrm>
          <a:prstGeom prst="rect">
            <a:avLst/>
          </a:prstGeom>
          <a:noFill/>
          <a:ln/>
        </p:spPr>
        <p:txBody>
          <a:bodyPr wrap="none" lIns="0" tIns="0" rIns="0" bIns="0" rtlCol="0" anchor="t"/>
          <a:lstStyle/>
          <a:p>
            <a:pPr marL="0" indent="0">
              <a:lnSpc>
                <a:spcPts val="6050"/>
              </a:lnSpc>
              <a:buNone/>
            </a:pPr>
            <a:r>
              <a:rPr lang="en-US" sz="4850" i="1" u="sng" dirty="0">
                <a:solidFill>
                  <a:srgbClr val="F5F0F0"/>
                </a:solidFill>
                <a:latin typeface="Merriweather" pitchFamily="34" charset="0"/>
                <a:ea typeface="Merriweather" pitchFamily="34" charset="-122"/>
                <a:cs typeface="Merriweather" pitchFamily="34" charset="-120"/>
              </a:rPr>
              <a:t>Conclusion</a:t>
            </a:r>
            <a:endParaRPr lang="en-US" sz="4850" dirty="0"/>
          </a:p>
        </p:txBody>
      </p:sp>
      <p:sp>
        <p:nvSpPr>
          <p:cNvPr id="3" name="Text 1"/>
          <p:cNvSpPr/>
          <p:nvPr/>
        </p:nvSpPr>
        <p:spPr>
          <a:xfrm>
            <a:off x="863798" y="2773204"/>
            <a:ext cx="12902803" cy="3948113"/>
          </a:xfrm>
          <a:prstGeom prst="rect">
            <a:avLst/>
          </a:prstGeom>
          <a:noFill/>
          <a:ln/>
        </p:spPr>
        <p:txBody>
          <a:bodyPr wrap="squar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Object detection has evolved significantly, integrating advanced AI models and Multi-Agent Reinforcement Learning (MARL) frameworks to enhance accuracy, adaptability, and efficiency. From single-stage detectors like YOLOv5 to complex architectures like Faster R-CNN and Vision Transformers, each model serves specific needs across various applications, including autonomous driving, surveillance, healthcare, and agriculture. MARL-based solutions, such as CTDE, MADDPG, and Mean Field RL, improve coordination in multi-agent settings, leading to more robust object detection. Real-world applications, including self-driving cars, drone surveillance, and disaster response, demonstrate MARL’s ability to optimize real-time decision-making and detection accuracy. Looking ahead, emerging technologies like Continual Learning, Hypergraph Neural Networks, and Neuromorphic Computing promise to further revolutionize object detection by making systems more adaptive, efficient, and resilient.</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1796</Words>
  <Application>Microsoft Office PowerPoint</Application>
  <PresentationFormat>Custom</PresentationFormat>
  <Paragraphs>103</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Merriweather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Tanmay Kaushik [CSE - 2021]</cp:lastModifiedBy>
  <cp:revision>2</cp:revision>
  <dcterms:created xsi:type="dcterms:W3CDTF">2025-03-04T15:01:57Z</dcterms:created>
  <dcterms:modified xsi:type="dcterms:W3CDTF">2025-03-04T15:04:34Z</dcterms:modified>
</cp:coreProperties>
</file>